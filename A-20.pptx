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304" r:id="rId3"/>
    <p:sldId id="337" r:id="rId4"/>
    <p:sldId id="307" r:id="rId5"/>
    <p:sldId id="331" r:id="rId6"/>
    <p:sldId id="318" r:id="rId7"/>
    <p:sldId id="319" r:id="rId8"/>
    <p:sldId id="329" r:id="rId9"/>
    <p:sldId id="313" r:id="rId10"/>
    <p:sldId id="333" r:id="rId11"/>
    <p:sldId id="346" r:id="rId12"/>
    <p:sldId id="339" r:id="rId13"/>
    <p:sldId id="347" r:id="rId14"/>
    <p:sldId id="342" r:id="rId15"/>
    <p:sldId id="348" r:id="rId16"/>
    <p:sldId id="351" r:id="rId17"/>
    <p:sldId id="349" r:id="rId18"/>
    <p:sldId id="350" r:id="rId19"/>
    <p:sldId id="312" r:id="rId20"/>
    <p:sldId id="311"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11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75643" autoAdjust="0"/>
  </p:normalViewPr>
  <p:slideViewPr>
    <p:cSldViewPr>
      <p:cViewPr>
        <p:scale>
          <a:sx n="75" d="100"/>
          <a:sy n="75" d="100"/>
        </p:scale>
        <p:origin x="-1694" y="-34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A5C621C-7812-4065-94D2-0E8437CF60C1}" type="datetimeFigureOut">
              <a:rPr lang="en-US" smtClean="0"/>
              <a:t>4/18/2026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E051795-AA87-465D-A617-E681BB4AC155}" type="slidenum">
              <a:rPr lang="en-US" smtClean="0"/>
              <a:t>‹#›</a:t>
            </a:fld>
            <a:endParaRPr lang="en-US" dirty="0"/>
          </a:p>
        </p:txBody>
      </p:sp>
    </p:spTree>
    <p:extLst>
      <p:ext uri="{BB962C8B-B14F-4D97-AF65-F5344CB8AC3E}">
        <p14:creationId xmlns:p14="http://schemas.microsoft.com/office/powerpoint/2010/main" val="15199123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Why Ber</a:t>
            </a:r>
            <a:r>
              <a:rPr lang="en-US" baseline="0" dirty="0" smtClean="0"/>
              <a:t>t got highest accuracy and why not </a:t>
            </a:r>
            <a:r>
              <a:rPr lang="en-US" baseline="0" dirty="0" err="1" smtClean="0"/>
              <a:t>DistilBert</a:t>
            </a:r>
            <a:r>
              <a:rPr lang="en-US" baseline="0" dirty="0" smtClean="0"/>
              <a:t>:</a:t>
            </a:r>
          </a:p>
          <a:p>
            <a:r>
              <a:rPr lang="en-US" baseline="0" dirty="0" smtClean="0"/>
              <a:t>This </a:t>
            </a:r>
            <a:r>
              <a:rPr lang="en-US" dirty="0" smtClean="0"/>
              <a:t>is because BERT has a deeper architecture (12 layers), which allows it to capture richer contextual relationships in the text.</a:t>
            </a:r>
          </a:p>
          <a:p>
            <a:r>
              <a:rPr lang="en-US" dirty="0" smtClean="0"/>
              <a:t>On the other hand, </a:t>
            </a:r>
            <a:r>
              <a:rPr lang="en-US" dirty="0" err="1" smtClean="0"/>
              <a:t>DistilBERT</a:t>
            </a:r>
            <a:r>
              <a:rPr lang="en-US" dirty="0" smtClean="0"/>
              <a:t> is a compressed version with fewer layers, making it faster but slightly less accurate.</a:t>
            </a:r>
            <a:endParaRPr lang="en-US" dirty="0"/>
          </a:p>
        </p:txBody>
      </p:sp>
      <p:sp>
        <p:nvSpPr>
          <p:cNvPr id="4" name="Slide Number Placeholder 3"/>
          <p:cNvSpPr>
            <a:spLocks noGrp="1"/>
          </p:cNvSpPr>
          <p:nvPr>
            <p:ph type="sldNum" sz="quarter" idx="10"/>
          </p:nvPr>
        </p:nvSpPr>
        <p:spPr/>
        <p:txBody>
          <a:bodyPr/>
          <a:lstStyle/>
          <a:p>
            <a:fld id="{9E051795-AA87-465D-A617-E681BB4AC155}" type="slidenum">
              <a:rPr lang="en-US" smtClean="0"/>
              <a:t>16</a:t>
            </a:fld>
            <a:endParaRPr lang="en-US" dirty="0"/>
          </a:p>
        </p:txBody>
      </p:sp>
    </p:spTree>
    <p:extLst>
      <p:ext uri="{BB962C8B-B14F-4D97-AF65-F5344CB8AC3E}">
        <p14:creationId xmlns:p14="http://schemas.microsoft.com/office/powerpoint/2010/main" val="1661373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C60DAF7-55EF-4467-A207-F345DBF0A780}" type="datetime3">
              <a:rPr lang="en-US" smtClean="0"/>
              <a:t>18 April 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71FA7E-0AC3-48E5-993C-6403EE473F36}" type="datetime3">
              <a:rPr lang="en-US" smtClean="0"/>
              <a:t>18 April 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644DF9-5906-443E-8FBF-4E0A61B0B119}" type="datetime3">
              <a:rPr lang="en-US" smtClean="0"/>
              <a:t>18 April 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9741877-A574-4EDA-AF83-C400A8233A5B}" type="datetime3">
              <a:rPr lang="en-US" smtClean="0"/>
              <a:t>18 April 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890BEC7-98AA-45F2-BC84-E7A4A017B381}" type="datetime3">
              <a:rPr lang="en-US" smtClean="0"/>
              <a:t>18 April 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AA2C0FC-8963-42C2-913A-9C72E9BFD5AB}" type="datetime3">
              <a:rPr lang="en-US" smtClean="0"/>
              <a:t>18 April 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82085C-AF56-4C00-A80F-C04D6A7591DE}" type="datetime3">
              <a:rPr lang="en-US" smtClean="0"/>
              <a:t>18 April 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FA527C-E68A-4A9A-AFFB-03EFEDE1BF3B}" type="datetime3">
              <a:rPr lang="en-US" smtClean="0"/>
              <a:t>18 April 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90ABD81-B38F-406C-B99E-04BCBF302DAD}" type="datetime3">
              <a:rPr lang="en-US" smtClean="0"/>
              <a:t>18 April 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96D00B-4701-45C8-AC22-6C90417D0D3A}" type="datetime3">
              <a:rPr lang="en-US" smtClean="0"/>
              <a:t>18 April 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6D1D414-A562-4B8E-82DE-54387101456C}" type="datetime3">
              <a:rPr lang="en-US" smtClean="0"/>
              <a:t>18 April 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8938C2-0D9A-41DA-A0F6-9A5D970295AA}" type="datetime3">
              <a:rPr lang="en-US" smtClean="0"/>
              <a:t>18 April 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487035"/>
            <a:ext cx="7696200" cy="951365"/>
          </a:xfrm>
        </p:spPr>
        <p:txBody>
          <a:bodyPr>
            <a:noAutofit/>
          </a:bodyPr>
          <a:lstStyle/>
          <a:p>
            <a:r>
              <a:rPr lang="en-US" sz="3200" dirty="0">
                <a:latin typeface="Times New Roman" panose="02020603050405020304" pitchFamily="18" charset="0"/>
                <a:cs typeface="Times New Roman" panose="02020603050405020304" pitchFamily="18" charset="0"/>
              </a:rPr>
              <a:t>Transformer-Based Fake News Detection</a:t>
            </a:r>
          </a:p>
        </p:txBody>
      </p:sp>
      <p:sp>
        <p:nvSpPr>
          <p:cNvPr id="3" name="Subtitle 2"/>
          <p:cNvSpPr>
            <a:spLocks noGrp="1"/>
          </p:cNvSpPr>
          <p:nvPr>
            <p:ph type="subTitle" idx="1"/>
          </p:nvPr>
        </p:nvSpPr>
        <p:spPr>
          <a:xfrm>
            <a:off x="533399" y="3733800"/>
            <a:ext cx="8153401" cy="1752600"/>
          </a:xfrm>
        </p:spPr>
        <p:txBody>
          <a:bodyPr>
            <a:normAutofit fontScale="47500" lnSpcReduction="20000"/>
          </a:bodyPr>
          <a:lstStyle/>
          <a:p>
            <a:r>
              <a:rPr lang="en-US" sz="6700" dirty="0">
                <a:solidFill>
                  <a:schemeClr val="tx1"/>
                </a:solidFill>
                <a:latin typeface="Times New Roman" panose="02020603050405020304" pitchFamily="18" charset="0"/>
                <a:cs typeface="Times New Roman" panose="02020603050405020304" pitchFamily="18" charset="0"/>
              </a:rPr>
              <a:t>Presented by</a:t>
            </a:r>
          </a:p>
          <a:p>
            <a:r>
              <a:rPr lang="en-US" sz="5000" b="1" dirty="0">
                <a:solidFill>
                  <a:srgbClr val="7030A0"/>
                </a:solidFill>
                <a:latin typeface="Times New Roman" panose="02020603050405020304" pitchFamily="18" charset="0"/>
                <a:cs typeface="Times New Roman" panose="02020603050405020304" pitchFamily="18" charset="0"/>
              </a:rPr>
              <a:t> </a:t>
            </a:r>
          </a:p>
          <a:p>
            <a:r>
              <a:rPr lang="en-US" sz="5000" b="1" dirty="0" err="1">
                <a:solidFill>
                  <a:srgbClr val="7030A0"/>
                </a:solidFill>
                <a:latin typeface="Times New Roman" panose="02020603050405020304" pitchFamily="18" charset="0"/>
                <a:cs typeface="Times New Roman" panose="02020603050405020304" pitchFamily="18" charset="0"/>
              </a:rPr>
              <a:t>Varalakshmi</a:t>
            </a:r>
            <a:r>
              <a:rPr lang="en-US" sz="5000" b="1" dirty="0">
                <a:solidFill>
                  <a:srgbClr val="7030A0"/>
                </a:solidFill>
                <a:latin typeface="Times New Roman" panose="02020603050405020304" pitchFamily="18" charset="0"/>
                <a:cs typeface="Times New Roman" panose="02020603050405020304" pitchFamily="18" charset="0"/>
              </a:rPr>
              <a:t> </a:t>
            </a:r>
            <a:r>
              <a:rPr lang="en-US" sz="5000" b="1" dirty="0" err="1">
                <a:solidFill>
                  <a:srgbClr val="7030A0"/>
                </a:solidFill>
                <a:latin typeface="Times New Roman" panose="02020603050405020304" pitchFamily="18" charset="0"/>
                <a:cs typeface="Times New Roman" panose="02020603050405020304" pitchFamily="18" charset="0"/>
              </a:rPr>
              <a:t>Maddireddy</a:t>
            </a:r>
            <a:r>
              <a:rPr lang="en-US" sz="5000" b="1" dirty="0">
                <a:solidFill>
                  <a:srgbClr val="7030A0"/>
                </a:solidFill>
                <a:latin typeface="Times New Roman" panose="02020603050405020304" pitchFamily="18" charset="0"/>
                <a:cs typeface="Times New Roman" panose="02020603050405020304" pitchFamily="18" charset="0"/>
              </a:rPr>
              <a:t> (228W1A1233)</a:t>
            </a:r>
          </a:p>
          <a:p>
            <a:r>
              <a:rPr lang="en-US" sz="5000" b="1" dirty="0" err="1">
                <a:solidFill>
                  <a:srgbClr val="7030A0"/>
                </a:solidFill>
                <a:latin typeface="Times New Roman" panose="02020603050405020304" pitchFamily="18" charset="0"/>
                <a:cs typeface="Times New Roman" panose="02020603050405020304" pitchFamily="18" charset="0"/>
              </a:rPr>
              <a:t>Lavanya</a:t>
            </a:r>
            <a:r>
              <a:rPr lang="en-US" sz="5000" b="1" dirty="0">
                <a:solidFill>
                  <a:srgbClr val="7030A0"/>
                </a:solidFill>
                <a:latin typeface="Times New Roman" panose="02020603050405020304" pitchFamily="18" charset="0"/>
                <a:cs typeface="Times New Roman" panose="02020603050405020304" pitchFamily="18" charset="0"/>
              </a:rPr>
              <a:t> </a:t>
            </a:r>
            <a:r>
              <a:rPr lang="en-US" sz="5000" b="1" dirty="0" err="1">
                <a:solidFill>
                  <a:srgbClr val="7030A0"/>
                </a:solidFill>
                <a:latin typeface="Times New Roman" panose="02020603050405020304" pitchFamily="18" charset="0"/>
                <a:cs typeface="Times New Roman" panose="02020603050405020304" pitchFamily="18" charset="0"/>
              </a:rPr>
              <a:t>Ravilla</a:t>
            </a:r>
            <a:r>
              <a:rPr lang="en-US" sz="5000" b="1" dirty="0">
                <a:solidFill>
                  <a:srgbClr val="7030A0"/>
                </a:solidFill>
                <a:latin typeface="Times New Roman" panose="02020603050405020304" pitchFamily="18" charset="0"/>
                <a:cs typeface="Times New Roman" panose="02020603050405020304" pitchFamily="18" charset="0"/>
              </a:rPr>
              <a:t> (228W1A1255)</a:t>
            </a:r>
          </a:p>
          <a:p>
            <a:endParaRPr lang="en-US" b="1" dirty="0">
              <a:solidFill>
                <a:srgbClr val="7030A0"/>
              </a:solidFill>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1" y="353064"/>
            <a:ext cx="1600199" cy="8661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descr="Image result for vrse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96200" y="92668"/>
            <a:ext cx="1068572" cy="124196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922721" y="267370"/>
            <a:ext cx="5486400" cy="758857"/>
          </a:xfrm>
          <a:prstGeom prst="rect">
            <a:avLst/>
          </a:prstGeom>
          <a:noFill/>
        </p:spPr>
        <p:txBody>
          <a:bodyPr wrap="square" lIns="19998" tIns="9999" rIns="19998" bIns="9999" rtlCol="0">
            <a:spAutoFit/>
          </a:bodyPr>
          <a:lstStyle/>
          <a:p>
            <a:pPr algn="ctr"/>
            <a:r>
              <a:rPr lang="en-IN" sz="2400" b="1" dirty="0">
                <a:solidFill>
                  <a:srgbClr val="0000FF"/>
                </a:solidFill>
                <a:latin typeface="Times New Roman" panose="02020603050405020304" pitchFamily="18" charset="0"/>
                <a:cs typeface="Times New Roman" panose="02020603050405020304" pitchFamily="18" charset="0"/>
              </a:rPr>
              <a:t>Department of Information Technology</a:t>
            </a:r>
          </a:p>
          <a:p>
            <a:pPr algn="ctr"/>
            <a:r>
              <a:rPr lang="en-IN" sz="2400" b="1" dirty="0">
                <a:solidFill>
                  <a:srgbClr val="FF0000"/>
                </a:solidFill>
                <a:latin typeface="Times New Roman" panose="02020603050405020304" pitchFamily="18" charset="0"/>
                <a:cs typeface="Times New Roman" panose="02020603050405020304" pitchFamily="18" charset="0"/>
              </a:rPr>
              <a:t>V R Siddhartha Engineering College </a:t>
            </a:r>
          </a:p>
        </p:txBody>
      </p:sp>
      <p:sp>
        <p:nvSpPr>
          <p:cNvPr id="8" name="TextBox 7"/>
          <p:cNvSpPr txBox="1"/>
          <p:nvPr/>
        </p:nvSpPr>
        <p:spPr>
          <a:xfrm>
            <a:off x="2002605" y="2667000"/>
            <a:ext cx="5257800" cy="707886"/>
          </a:xfrm>
          <a:prstGeom prst="rect">
            <a:avLst/>
          </a:prstGeom>
          <a:noFill/>
        </p:spPr>
        <p:txBody>
          <a:bodyPr wrap="square" rtlCol="0">
            <a:spAutoFit/>
          </a:bodyPr>
          <a:lstStyle/>
          <a:p>
            <a:pPr algn="ctr"/>
            <a:r>
              <a:rPr lang="en-US" sz="2000" b="1" dirty="0">
                <a:solidFill>
                  <a:srgbClr val="FF0000"/>
                </a:solidFill>
                <a:latin typeface="Times New Roman" panose="02020603050405020304" pitchFamily="18" charset="0"/>
                <a:cs typeface="Times New Roman" panose="02020603050405020304" pitchFamily="18" charset="0"/>
              </a:rPr>
              <a:t>B.Tech in Information Technology</a:t>
            </a:r>
          </a:p>
          <a:p>
            <a:pPr algn="ctr"/>
            <a:r>
              <a:rPr lang="en-US" sz="2000" b="1" dirty="0">
                <a:solidFill>
                  <a:srgbClr val="BF11A6"/>
                </a:solidFill>
                <a:latin typeface="Times New Roman" panose="02020603050405020304" pitchFamily="18" charset="0"/>
                <a:cs typeface="Times New Roman" panose="02020603050405020304" pitchFamily="18" charset="0"/>
              </a:rPr>
              <a:t>Major Project Review Presentation</a:t>
            </a:r>
          </a:p>
        </p:txBody>
      </p:sp>
      <p:sp>
        <p:nvSpPr>
          <p:cNvPr id="4" name="Rectangle 3"/>
          <p:cNvSpPr/>
          <p:nvPr/>
        </p:nvSpPr>
        <p:spPr>
          <a:xfrm>
            <a:off x="2379921" y="5638800"/>
            <a:ext cx="4572000" cy="1292662"/>
          </a:xfrm>
          <a:prstGeom prst="rect">
            <a:avLst/>
          </a:prstGeom>
        </p:spPr>
        <p:txBody>
          <a:bodyPr>
            <a:spAutoFit/>
          </a:bodyPr>
          <a:lstStyle/>
          <a:p>
            <a:pPr algn="ctr"/>
            <a:r>
              <a:rPr lang="en-US" dirty="0">
                <a:latin typeface="Times New Roman" panose="02020603050405020304" pitchFamily="18" charset="0"/>
                <a:cs typeface="Times New Roman" panose="02020603050405020304" pitchFamily="18" charset="0"/>
              </a:rPr>
              <a:t>Under the guidance of </a:t>
            </a:r>
            <a:endParaRPr lang="en-US" sz="16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 </a:t>
            </a:r>
            <a:r>
              <a:rPr lang="en-US" sz="2000" b="1" dirty="0">
                <a:solidFill>
                  <a:srgbClr val="FF0000"/>
                </a:solidFill>
                <a:latin typeface="Times New Roman" panose="02020603050405020304" pitchFamily="18" charset="0"/>
                <a:cs typeface="Times New Roman" panose="02020603050405020304" pitchFamily="18" charset="0"/>
              </a:rPr>
              <a:t>Dr. </a:t>
            </a:r>
            <a:r>
              <a:rPr lang="en-US" sz="2000" b="1" dirty="0" err="1">
                <a:solidFill>
                  <a:srgbClr val="FF0000"/>
                </a:solidFill>
                <a:latin typeface="Times New Roman" panose="02020603050405020304" pitchFamily="18" charset="0"/>
                <a:cs typeface="Times New Roman" panose="02020603050405020304" pitchFamily="18" charset="0"/>
              </a:rPr>
              <a:t>M.Suneetha</a:t>
            </a:r>
            <a:endParaRPr lang="en-US" sz="2000" b="1" dirty="0">
              <a:solidFill>
                <a:srgbClr val="FF0000"/>
              </a:solidFill>
              <a:latin typeface="Times New Roman" panose="02020603050405020304" pitchFamily="18" charset="0"/>
              <a:cs typeface="Times New Roman" panose="02020603050405020304" pitchFamily="18" charset="0"/>
            </a:endParaRPr>
          </a:p>
          <a:p>
            <a:pPr algn="ctr"/>
            <a:r>
              <a:rPr lang="en-US" sz="2000" b="1" dirty="0">
                <a:solidFill>
                  <a:srgbClr val="FF0000"/>
                </a:solidFill>
                <a:latin typeface="Times New Roman" panose="02020603050405020304" pitchFamily="18" charset="0"/>
                <a:cs typeface="Times New Roman" panose="02020603050405020304" pitchFamily="18" charset="0"/>
              </a:rPr>
              <a:t>Professor &amp;Head</a:t>
            </a:r>
          </a:p>
          <a:p>
            <a:pPr algn="ctr"/>
            <a:r>
              <a:rPr lang="en-US" sz="2000" b="1" dirty="0">
                <a:solidFill>
                  <a:srgbClr val="FF0000"/>
                </a:solidFill>
                <a:latin typeface="Times New Roman" panose="02020603050405020304" pitchFamily="18" charset="0"/>
                <a:cs typeface="Times New Roman" panose="02020603050405020304" pitchFamily="18" charset="0"/>
              </a:rPr>
              <a:t> </a:t>
            </a:r>
            <a:endParaRPr lang="en-US"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39087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14400"/>
          </a:xfrm>
        </p:spPr>
        <p:txBody>
          <a:bodyPr>
            <a:noAutofit/>
          </a:bodyPr>
          <a:lstStyle/>
          <a:p>
            <a:r>
              <a:rPr lang="en-US" sz="3600" b="1" dirty="0">
                <a:latin typeface="Times New Roman" panose="02020603050405020304" pitchFamily="18" charset="0"/>
                <a:cs typeface="Times New Roman" panose="02020603050405020304" pitchFamily="18" charset="0"/>
              </a:rPr>
              <a:t>AGENDA</a:t>
            </a:r>
          </a:p>
        </p:txBody>
      </p:sp>
      <p:sp>
        <p:nvSpPr>
          <p:cNvPr id="4" name="Content Placeholder 2"/>
          <p:cNvSpPr>
            <a:spLocks noGrp="1"/>
          </p:cNvSpPr>
          <p:nvPr>
            <p:ph idx="1"/>
          </p:nvPr>
        </p:nvSpPr>
        <p:spPr>
          <a:xfrm>
            <a:off x="762000" y="1524000"/>
            <a:ext cx="7543800" cy="3733800"/>
          </a:xfrm>
        </p:spPr>
        <p:txBody>
          <a:bodyPr>
            <a:normAutofit fontScale="92500" lnSpcReduction="20000"/>
          </a:bodyPr>
          <a:lstStyle/>
          <a:p>
            <a:pPr marL="0" indent="0" algn="just">
              <a:buNone/>
            </a:pPr>
            <a:endParaRPr lang="en-US" sz="2000" dirty="0">
              <a:latin typeface="Times New Roman" panose="02020603050405020304" pitchFamily="18" charset="0"/>
              <a:cs typeface="Times New Roman" panose="02020603050405020304" pitchFamily="18" charset="0"/>
            </a:endParaRPr>
          </a:p>
          <a:p>
            <a:pPr algn="just"/>
            <a:r>
              <a:rPr lang="en-US" sz="2200" dirty="0">
                <a:latin typeface="Times New Roman" pitchFamily="18" charset="0"/>
                <a:cs typeface="Times New Roman" pitchFamily="18" charset="0"/>
              </a:rPr>
              <a:t>Introduction</a:t>
            </a:r>
            <a:r>
              <a:rPr lang="en-US" sz="2200" dirty="0" smtClean="0">
                <a:latin typeface="Times New Roman" panose="02020603050405020304" pitchFamily="18" charset="0"/>
                <a:cs typeface="Times New Roman" panose="02020603050405020304" pitchFamily="18" charset="0"/>
              </a:rPr>
              <a:t> </a:t>
            </a:r>
          </a:p>
          <a:p>
            <a:pPr algn="just"/>
            <a:r>
              <a:rPr lang="en-US" sz="2200" dirty="0" smtClean="0">
                <a:latin typeface="Times New Roman" panose="02020603050405020304" pitchFamily="18" charset="0"/>
                <a:cs typeface="Times New Roman" panose="02020603050405020304" pitchFamily="18" charset="0"/>
              </a:rPr>
              <a:t>Problem Statement</a:t>
            </a:r>
          </a:p>
          <a:p>
            <a:pPr algn="just"/>
            <a:r>
              <a:rPr lang="en-US" sz="2200" dirty="0" smtClean="0">
                <a:latin typeface="Times New Roman" panose="02020603050405020304" pitchFamily="18" charset="0"/>
                <a:cs typeface="Times New Roman" panose="02020603050405020304" pitchFamily="18" charset="0"/>
              </a:rPr>
              <a:t>Objectives and Outcomes</a:t>
            </a:r>
          </a:p>
          <a:p>
            <a:pPr algn="just"/>
            <a:r>
              <a:rPr lang="en-US" sz="2200" dirty="0">
                <a:latin typeface="Times New Roman" pitchFamily="18" charset="0"/>
                <a:cs typeface="Times New Roman" pitchFamily="18" charset="0"/>
              </a:rPr>
              <a:t>Literature </a:t>
            </a:r>
            <a:r>
              <a:rPr lang="en-US" sz="2200" dirty="0" smtClean="0">
                <a:latin typeface="Times New Roman" pitchFamily="18" charset="0"/>
                <a:cs typeface="Times New Roman" pitchFamily="18" charset="0"/>
              </a:rPr>
              <a:t>Review</a:t>
            </a:r>
          </a:p>
          <a:p>
            <a:pPr algn="just"/>
            <a:r>
              <a:rPr lang="en-US" sz="2200" dirty="0" smtClean="0">
                <a:latin typeface="Times New Roman" panose="02020603050405020304" pitchFamily="18" charset="0"/>
                <a:cs typeface="Times New Roman" panose="02020603050405020304" pitchFamily="18" charset="0"/>
              </a:rPr>
              <a:t>Datasets and Requirements</a:t>
            </a:r>
          </a:p>
          <a:p>
            <a:pPr algn="just"/>
            <a:r>
              <a:rPr lang="en-US" sz="2200" dirty="0" smtClean="0">
                <a:latin typeface="Times New Roman" panose="02020603050405020304" pitchFamily="18" charset="0"/>
                <a:cs typeface="Times New Roman" panose="02020603050405020304" pitchFamily="18" charset="0"/>
              </a:rPr>
              <a:t>Algorithms </a:t>
            </a:r>
          </a:p>
          <a:p>
            <a:pPr algn="just"/>
            <a:r>
              <a:rPr lang="en-US" sz="2200" dirty="0" smtClean="0">
                <a:latin typeface="Times New Roman" panose="02020603050405020304" pitchFamily="18" charset="0"/>
                <a:cs typeface="Times New Roman" panose="02020603050405020304" pitchFamily="18" charset="0"/>
              </a:rPr>
              <a:t>Architecture diagram</a:t>
            </a:r>
          </a:p>
          <a:p>
            <a:pPr algn="just"/>
            <a:r>
              <a:rPr lang="en-US" sz="2200" dirty="0">
                <a:latin typeface="Times New Roman" panose="02020603050405020304" pitchFamily="18" charset="0"/>
                <a:cs typeface="Times New Roman" panose="02020603050405020304" pitchFamily="18" charset="0"/>
              </a:rPr>
              <a:t>Implementation</a:t>
            </a:r>
            <a:endParaRPr lang="en-US" sz="2200" dirty="0" smtClean="0">
              <a:latin typeface="Times New Roman" panose="02020603050405020304" pitchFamily="18" charset="0"/>
              <a:cs typeface="Times New Roman" panose="02020603050405020304" pitchFamily="18" charset="0"/>
            </a:endParaRPr>
          </a:p>
          <a:p>
            <a:pPr algn="just"/>
            <a:r>
              <a:rPr lang="en-US" sz="2200" dirty="0">
                <a:latin typeface="Times New Roman" pitchFamily="18" charset="0"/>
                <a:cs typeface="Times New Roman" pitchFamily="18" charset="0"/>
              </a:rPr>
              <a:t>Results </a:t>
            </a:r>
            <a:r>
              <a:rPr lang="en-US" sz="2200" dirty="0" smtClean="0">
                <a:latin typeface="Times New Roman" pitchFamily="18" charset="0"/>
                <a:cs typeface="Times New Roman" pitchFamily="18" charset="0"/>
              </a:rPr>
              <a:t>and Analysis</a:t>
            </a:r>
          </a:p>
          <a:p>
            <a:pPr algn="just"/>
            <a:r>
              <a:rPr lang="en-US" sz="2200" dirty="0">
                <a:latin typeface="Times New Roman" pitchFamily="18" charset="0"/>
                <a:cs typeface="Times New Roman" pitchFamily="18" charset="0"/>
              </a:rPr>
              <a:t>Conclusion </a:t>
            </a:r>
            <a:r>
              <a:rPr lang="en-US" sz="2200" dirty="0" smtClean="0">
                <a:latin typeface="Times New Roman" pitchFamily="18" charset="0"/>
                <a:cs typeface="Times New Roman" pitchFamily="18" charset="0"/>
              </a:rPr>
              <a:t>and </a:t>
            </a:r>
            <a:r>
              <a:rPr lang="en-US" sz="2200" dirty="0">
                <a:latin typeface="Times New Roman" pitchFamily="18" charset="0"/>
                <a:cs typeface="Times New Roman" pitchFamily="18" charset="0"/>
              </a:rPr>
              <a:t>Future Work</a:t>
            </a:r>
          </a:p>
          <a:p>
            <a:pPr algn="just"/>
            <a:r>
              <a:rPr lang="en-US" sz="2200" dirty="0" smtClean="0">
                <a:latin typeface="Times New Roman" panose="02020603050405020304" pitchFamily="18" charset="0"/>
                <a:cs typeface="Times New Roman" panose="02020603050405020304" pitchFamily="18" charset="0"/>
              </a:rPr>
              <a:t>References</a:t>
            </a:r>
          </a:p>
          <a:p>
            <a:pPr marL="0" indent="0">
              <a:buNone/>
            </a:pPr>
            <a:endParaRPr lang="en-US" sz="2200" dirty="0" smtClean="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05280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936EF2-69B2-CC4C-B248-9AF52A18541E}"/>
              </a:ext>
            </a:extLst>
          </p:cNvPr>
          <p:cNvSpPr>
            <a:spLocks noGrp="1"/>
          </p:cNvSpPr>
          <p:nvPr>
            <p:ph type="title"/>
          </p:nvPr>
        </p:nvSpPr>
        <p:spPr/>
        <p:txBody>
          <a:bodyPr>
            <a:normAutofit/>
          </a:bodyPr>
          <a:lstStyle/>
          <a:p>
            <a:r>
              <a:rPr lang="en-IN" sz="3200" b="1" dirty="0" smtClean="0">
                <a:latin typeface="Times New Roman" panose="02020603050405020304" pitchFamily="18" charset="0"/>
                <a:cs typeface="Times New Roman" panose="02020603050405020304" pitchFamily="18" charset="0"/>
              </a:rPr>
              <a:t>INTRODUCTION</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BFE774C3-C775-2369-F45B-9FDC4B53B57A}"/>
              </a:ext>
            </a:extLst>
          </p:cNvPr>
          <p:cNvSpPr>
            <a:spLocks noGrp="1"/>
          </p:cNvSpPr>
          <p:nvPr>
            <p:ph idx="1"/>
          </p:nvPr>
        </p:nvSpPr>
        <p:spPr>
          <a:xfrm>
            <a:off x="457200" y="1524000"/>
            <a:ext cx="8229600" cy="4602163"/>
          </a:xfrm>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exponential growth of online news platforms has led to the rapid dissemination of misinformation</a:t>
            </a:r>
            <a:r>
              <a:rPr lang="en-US" sz="2000" dirty="0" smtClean="0">
                <a:latin typeface="Times New Roman" panose="02020603050405020304" pitchFamily="18" charset="0"/>
                <a:cs typeface="Times New Roman" panose="02020603050405020304" pitchFamily="18" charset="0"/>
              </a:rPr>
              <a:t>.</a:t>
            </a:r>
          </a:p>
          <a:p>
            <a:pPr algn="just">
              <a:lnSpc>
                <a:spcPct val="150000"/>
              </a:lnSpc>
            </a:pPr>
            <a:r>
              <a:rPr lang="en-US" sz="2000" dirty="0" smtClean="0">
                <a:latin typeface="Times New Roman" panose="02020603050405020304" pitchFamily="18" charset="0"/>
                <a:cs typeface="Times New Roman" panose="02020603050405020304" pitchFamily="18" charset="0"/>
              </a:rPr>
              <a:t>Fake </a:t>
            </a:r>
            <a:r>
              <a:rPr lang="en-US" sz="2000" dirty="0">
                <a:latin typeface="Times New Roman" panose="02020603050405020304" pitchFamily="18" charset="0"/>
                <a:cs typeface="Times New Roman" panose="02020603050405020304" pitchFamily="18" charset="0"/>
              </a:rPr>
              <a:t>news significantly impacts public opinion, decision-making, and social stability</a:t>
            </a:r>
            <a:r>
              <a:rPr lang="en-US" sz="2000" dirty="0" smtClean="0">
                <a:latin typeface="Times New Roman" panose="02020603050405020304" pitchFamily="18" charset="0"/>
                <a:cs typeface="Times New Roman" panose="02020603050405020304" pitchFamily="18" charset="0"/>
              </a:rPr>
              <a:t>.</a:t>
            </a:r>
          </a:p>
          <a:p>
            <a:pPr algn="just">
              <a:lnSpc>
                <a:spcPct val="150000"/>
              </a:lnSpc>
            </a:pPr>
            <a:r>
              <a:rPr lang="en-US" sz="2000" dirty="0" smtClean="0">
                <a:latin typeface="Times New Roman" panose="02020603050405020304" pitchFamily="18" charset="0"/>
                <a:cs typeface="Times New Roman" panose="02020603050405020304" pitchFamily="18" charset="0"/>
              </a:rPr>
              <a:t>Manual </a:t>
            </a:r>
            <a:r>
              <a:rPr lang="en-US" sz="2000" dirty="0">
                <a:latin typeface="Times New Roman" panose="02020603050405020304" pitchFamily="18" charset="0"/>
                <a:cs typeface="Times New Roman" panose="02020603050405020304" pitchFamily="18" charset="0"/>
              </a:rPr>
              <a:t>fact-checking methods are inefficient and non-scalable</a:t>
            </a:r>
            <a:r>
              <a:rPr lang="en-US" sz="2000" dirty="0" smtClean="0">
                <a:latin typeface="Times New Roman" panose="02020603050405020304" pitchFamily="18" charset="0"/>
                <a:cs typeface="Times New Roman" panose="02020603050405020304" pitchFamily="18" charset="0"/>
              </a:rPr>
              <a:t>.</a:t>
            </a:r>
          </a:p>
          <a:p>
            <a:pPr algn="just">
              <a:lnSpc>
                <a:spcPct val="150000"/>
              </a:lnSpc>
            </a:pPr>
            <a:r>
              <a:rPr lang="en-US" sz="2000" dirty="0" smtClean="0">
                <a:latin typeface="Times New Roman" panose="02020603050405020304" pitchFamily="18" charset="0"/>
                <a:cs typeface="Times New Roman" panose="02020603050405020304" pitchFamily="18" charset="0"/>
              </a:rPr>
              <a:t>Automated </a:t>
            </a:r>
            <a:r>
              <a:rPr lang="en-US" sz="2000" dirty="0">
                <a:latin typeface="Times New Roman" panose="02020603050405020304" pitchFamily="18" charset="0"/>
                <a:cs typeface="Times New Roman" panose="02020603050405020304" pitchFamily="18" charset="0"/>
              </a:rPr>
              <a:t>detection using Natural Language Processing (NLP) has become essential.</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5110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5A0DA31F-199D-FFCE-A4C0-FCFB9AF11A75}"/>
              </a:ext>
            </a:extLst>
          </p:cNvPr>
          <p:cNvSpPr txBox="1">
            <a:spLocks/>
          </p:cNvSpPr>
          <p:nvPr/>
        </p:nvSpPr>
        <p:spPr>
          <a:xfrm>
            <a:off x="457200" y="685800"/>
            <a:ext cx="8229600" cy="609600"/>
          </a:xfrm>
          <a:prstGeom prst="rect">
            <a:avLst/>
          </a:prstGeom>
        </p:spPr>
        <p:txBody>
          <a:bodyP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b="1" dirty="0">
                <a:latin typeface="Times New Roman" panose="02020603050405020304" pitchFamily="18" charset="0"/>
                <a:cs typeface="Times New Roman" panose="02020603050405020304" pitchFamily="18" charset="0"/>
              </a:rPr>
              <a:t>PROBLEM STATEMENT</a:t>
            </a:r>
          </a:p>
        </p:txBody>
      </p:sp>
      <p:sp>
        <p:nvSpPr>
          <p:cNvPr id="4" name="Content Placeholder 2">
            <a:extLst>
              <a:ext uri="{FF2B5EF4-FFF2-40B4-BE49-F238E27FC236}">
                <a16:creationId xmlns:a16="http://schemas.microsoft.com/office/drawing/2014/main" xmlns="" id="{82EAD07C-26AF-14BD-EE68-1ED158ECFF08}"/>
              </a:ext>
            </a:extLst>
          </p:cNvPr>
          <p:cNvSpPr txBox="1">
            <a:spLocks/>
          </p:cNvSpPr>
          <p:nvPr/>
        </p:nvSpPr>
        <p:spPr>
          <a:xfrm>
            <a:off x="228600" y="838200"/>
            <a:ext cx="8763000" cy="5791200"/>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2800" dirty="0"/>
          </a:p>
          <a:p>
            <a:endParaRPr lang="en-US" sz="2800" dirty="0"/>
          </a:p>
          <a:p>
            <a:endParaRPr lang="en-US" sz="2800" dirty="0"/>
          </a:p>
        </p:txBody>
      </p:sp>
      <p:sp>
        <p:nvSpPr>
          <p:cNvPr id="5" name="Content Placeholder 2">
            <a:extLst>
              <a:ext uri="{FF2B5EF4-FFF2-40B4-BE49-F238E27FC236}">
                <a16:creationId xmlns:a16="http://schemas.microsoft.com/office/drawing/2014/main" xmlns="" id="{74654553-2CC1-5D84-D313-46A8E31527E9}"/>
              </a:ext>
            </a:extLst>
          </p:cNvPr>
          <p:cNvSpPr txBox="1">
            <a:spLocks/>
          </p:cNvSpPr>
          <p:nvPr/>
        </p:nvSpPr>
        <p:spPr>
          <a:xfrm>
            <a:off x="609600" y="1752600"/>
            <a:ext cx="7924800" cy="4495800"/>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150000"/>
              </a:lnSpc>
            </a:pPr>
            <a:r>
              <a:rPr lang="en-US" sz="2000" dirty="0">
                <a:latin typeface="Times New Roman" panose="02020603050405020304" pitchFamily="18" charset="0"/>
                <a:cs typeface="Times New Roman" panose="02020603050405020304" pitchFamily="18" charset="0"/>
              </a:rPr>
              <a:t>Fake news spreads rapidly on digital platforms, causing widespread misinformation and loss of public trust. Existing ML and DL models struggle to capture deep contextual relationships in long news articles and evolving writing styles, while transformer-based models, though more accurate, still act as black-box systems with limited interpretability.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21227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762000"/>
            <a:ext cx="4040188" cy="914400"/>
          </a:xfrm>
        </p:spPr>
        <p:txBody>
          <a:bodyPr>
            <a:normAutofit/>
          </a:bodyPr>
          <a:lstStyle/>
          <a:p>
            <a:r>
              <a:rPr lang="en-US"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OBJECTIVES</a:t>
            </a:r>
          </a:p>
          <a:p>
            <a:endParaRPr lang="en-IN" dirty="0"/>
          </a:p>
        </p:txBody>
      </p:sp>
      <p:sp>
        <p:nvSpPr>
          <p:cNvPr id="4" name="Content Placeholder 3"/>
          <p:cNvSpPr>
            <a:spLocks noGrp="1"/>
          </p:cNvSpPr>
          <p:nvPr>
            <p:ph sz="half" idx="2"/>
          </p:nvPr>
        </p:nvSpPr>
        <p:spPr>
          <a:xfrm>
            <a:off x="304800" y="1828800"/>
            <a:ext cx="4040188" cy="3951288"/>
          </a:xfrm>
        </p:spPr>
        <p:txBody>
          <a:bodyPr>
            <a:normAutofit lnSpcReduction="10000"/>
          </a:bodyPr>
          <a:lstStyle/>
          <a:p>
            <a:pPr>
              <a:lnSpc>
                <a:spcPct val="150000"/>
              </a:lnSpc>
            </a:pPr>
            <a:r>
              <a:rPr lang="en-US" sz="2000" dirty="0">
                <a:latin typeface="Times New Roman" panose="02020603050405020304" pitchFamily="18" charset="0"/>
                <a:cs typeface="Times New Roman" panose="02020603050405020304" pitchFamily="18" charset="0"/>
              </a:rPr>
              <a:t>To develop a transformer-based fake news detection system that accurately classifies news as real or fake.</a:t>
            </a:r>
          </a:p>
          <a:p>
            <a:pPr>
              <a:lnSpc>
                <a:spcPct val="150000"/>
              </a:lnSpc>
            </a:pPr>
            <a:endParaRPr lang="en-US" sz="105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To compare the performance of BERT and </a:t>
            </a:r>
            <a:r>
              <a:rPr lang="en-US" sz="2000" dirty="0" err="1">
                <a:latin typeface="Times New Roman" panose="02020603050405020304" pitchFamily="18" charset="0"/>
                <a:cs typeface="Times New Roman" panose="02020603050405020304" pitchFamily="18" charset="0"/>
              </a:rPr>
              <a:t>DistilBERT</a:t>
            </a:r>
            <a:r>
              <a:rPr lang="en-US" sz="2000" dirty="0">
                <a:latin typeface="Times New Roman" panose="02020603050405020304" pitchFamily="18" charset="0"/>
                <a:cs typeface="Times New Roman" panose="02020603050405020304" pitchFamily="18" charset="0"/>
              </a:rPr>
              <a:t> models in terms of accuracy, efficiency, and computational complexity.</a:t>
            </a:r>
          </a:p>
          <a:p>
            <a:pPr marL="0" indent="0">
              <a:lnSpc>
                <a:spcPct val="150000"/>
              </a:lnSpc>
              <a:buNone/>
            </a:pPr>
            <a:endParaRPr lang="en-IN" dirty="0">
              <a:latin typeface="Times New Roman" panose="02020603050405020304" pitchFamily="18" charset="0"/>
              <a:cs typeface="Times New Roman" panose="02020603050405020304" pitchFamily="18" charset="0"/>
            </a:endParaRPr>
          </a:p>
        </p:txBody>
      </p:sp>
      <p:sp>
        <p:nvSpPr>
          <p:cNvPr id="5" name="Text Placeholder 4"/>
          <p:cNvSpPr>
            <a:spLocks noGrp="1"/>
          </p:cNvSpPr>
          <p:nvPr>
            <p:ph type="body" sz="quarter" idx="3"/>
          </p:nvPr>
        </p:nvSpPr>
        <p:spPr>
          <a:xfrm>
            <a:off x="4800600" y="762000"/>
            <a:ext cx="4041775" cy="446087"/>
          </a:xfrm>
        </p:spPr>
        <p:txBody>
          <a:bodyPr>
            <a:noAutofit/>
          </a:bodyPr>
          <a:lstStyle/>
          <a:p>
            <a:r>
              <a:rPr lang="en-US" sz="2800" dirty="0">
                <a:latin typeface="Times New Roman" pitchFamily="18" charset="0"/>
                <a:cs typeface="Times New Roman" pitchFamily="18" charset="0"/>
              </a:rPr>
              <a:t>OUTCOMES</a:t>
            </a:r>
            <a:endParaRPr lang="en-IN" sz="2800" dirty="0">
              <a:latin typeface="Times New Roman" pitchFamily="18" charset="0"/>
              <a:cs typeface="Times New Roman" pitchFamily="18" charset="0"/>
            </a:endParaRPr>
          </a:p>
        </p:txBody>
      </p:sp>
      <p:sp>
        <p:nvSpPr>
          <p:cNvPr id="6" name="Content Placeholder 5"/>
          <p:cNvSpPr>
            <a:spLocks noGrp="1"/>
          </p:cNvSpPr>
          <p:nvPr>
            <p:ph sz="quarter" idx="4"/>
          </p:nvPr>
        </p:nvSpPr>
        <p:spPr>
          <a:xfrm>
            <a:off x="4724400" y="1828800"/>
            <a:ext cx="4041775" cy="3951288"/>
          </a:xfrm>
        </p:spPr>
        <p:txBody>
          <a:bodyPr>
            <a:normAutofit/>
          </a:bodyPr>
          <a:lstStyle/>
          <a:p>
            <a:pPr>
              <a:lnSpc>
                <a:spcPct val="150000"/>
              </a:lnSpc>
            </a:pPr>
            <a:r>
              <a:rPr lang="en-US" sz="2000" dirty="0">
                <a:latin typeface="Times New Roman" panose="02020603050405020304" pitchFamily="18" charset="0"/>
                <a:cs typeface="Times New Roman" panose="02020603050405020304" pitchFamily="18" charset="0"/>
              </a:rPr>
              <a:t>Enables reliable detection of fake news with clear, human-understandable explanations.</a:t>
            </a:r>
          </a:p>
          <a:p>
            <a:pPr marL="0" indent="0">
              <a:lnSpc>
                <a:spcPct val="150000"/>
              </a:lnSpc>
              <a:buNone/>
            </a:pP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Improved accuracy with transparent and interpretable results, increasing user trust and real-world usability.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5295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xmlns="" id="{C4C6EF47-763C-9056-5C66-A7A395CA2F90}"/>
              </a:ext>
            </a:extLst>
          </p:cNvPr>
          <p:cNvGraphicFramePr>
            <a:graphicFrameLocks noGrp="1"/>
          </p:cNvGraphicFramePr>
          <p:nvPr>
            <p:ph idx="1"/>
            <p:extLst>
              <p:ext uri="{D42A27DB-BD31-4B8C-83A1-F6EECF244321}">
                <p14:modId xmlns:p14="http://schemas.microsoft.com/office/powerpoint/2010/main" val="889569395"/>
              </p:ext>
            </p:extLst>
          </p:nvPr>
        </p:nvGraphicFramePr>
        <p:xfrm>
          <a:off x="457200" y="751820"/>
          <a:ext cx="8229600" cy="59436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xmlns="" val="360500164"/>
                    </a:ext>
                  </a:extLst>
                </a:gridCol>
                <a:gridCol w="2057400">
                  <a:extLst>
                    <a:ext uri="{9D8B030D-6E8A-4147-A177-3AD203B41FA5}">
                      <a16:colId xmlns:a16="http://schemas.microsoft.com/office/drawing/2014/main" xmlns="" val="1410832644"/>
                    </a:ext>
                  </a:extLst>
                </a:gridCol>
                <a:gridCol w="2057400">
                  <a:extLst>
                    <a:ext uri="{9D8B030D-6E8A-4147-A177-3AD203B41FA5}">
                      <a16:colId xmlns:a16="http://schemas.microsoft.com/office/drawing/2014/main" xmlns="" val="257248357"/>
                    </a:ext>
                  </a:extLst>
                </a:gridCol>
                <a:gridCol w="2057400">
                  <a:extLst>
                    <a:ext uri="{9D8B030D-6E8A-4147-A177-3AD203B41FA5}">
                      <a16:colId xmlns:a16="http://schemas.microsoft.com/office/drawing/2014/main" xmlns="" val="134071714"/>
                    </a:ext>
                  </a:extLst>
                </a:gridCol>
              </a:tblGrid>
              <a:tr h="301466">
                <a:tc>
                  <a:txBody>
                    <a:bodyPr/>
                    <a:lstStyle/>
                    <a:p>
                      <a:r>
                        <a:rPr lang="en-IN" sz="1600" dirty="0">
                          <a:latin typeface="Times New Roman" panose="02020603050405020304" pitchFamily="18" charset="0"/>
                          <a:cs typeface="Times New Roman" panose="02020603050405020304" pitchFamily="18" charset="0"/>
                        </a:rPr>
                        <a:t>Paper Details</a:t>
                      </a:r>
                    </a:p>
                  </a:txBody>
                  <a:tcPr/>
                </a:tc>
                <a:tc>
                  <a:txBody>
                    <a:bodyPr/>
                    <a:lstStyle/>
                    <a:p>
                      <a:r>
                        <a:rPr lang="en-IN" sz="1600" dirty="0">
                          <a:latin typeface="Times New Roman" panose="02020603050405020304" pitchFamily="18" charset="0"/>
                          <a:cs typeface="Times New Roman" panose="02020603050405020304" pitchFamily="18" charset="0"/>
                        </a:rPr>
                        <a:t>Datasets Used</a:t>
                      </a:r>
                    </a:p>
                  </a:txBody>
                  <a:tcPr/>
                </a:tc>
                <a:tc>
                  <a:txBody>
                    <a:bodyPr/>
                    <a:lstStyle/>
                    <a:p>
                      <a:r>
                        <a:rPr lang="en-IN" sz="1600" dirty="0">
                          <a:latin typeface="Times New Roman" panose="02020603050405020304" pitchFamily="18" charset="0"/>
                          <a:cs typeface="Times New Roman" panose="02020603050405020304" pitchFamily="18" charset="0"/>
                        </a:rPr>
                        <a:t>Algorithms </a:t>
                      </a:r>
                    </a:p>
                  </a:txBody>
                  <a:tcPr/>
                </a:tc>
                <a:tc>
                  <a:txBody>
                    <a:bodyPr/>
                    <a:lstStyle/>
                    <a:p>
                      <a:r>
                        <a:rPr lang="en-IN" sz="1600"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xmlns="" val="3448994554"/>
                  </a:ext>
                </a:extLst>
              </a:tr>
              <a:tr h="1425115">
                <a:tc>
                  <a:txBody>
                    <a:bodyPr/>
                    <a:lstStyle/>
                    <a:p>
                      <a:r>
                        <a:rPr lang="en-US" sz="1400" b="0" dirty="0">
                          <a:latin typeface="Times New Roman" panose="02020603050405020304" pitchFamily="18" charset="0"/>
                          <a:cs typeface="Times New Roman" panose="02020603050405020304" pitchFamily="18" charset="0"/>
                        </a:rPr>
                        <a:t>A Joint Learning Framework for Fake News Detection (Muhammad Abdullah et al., 2025, </a:t>
                      </a:r>
                      <a:r>
                        <a:rPr lang="en-US" sz="1400" b="0" i="1" dirty="0">
                          <a:latin typeface="Times New Roman" panose="02020603050405020304" pitchFamily="18" charset="0"/>
                          <a:cs typeface="Times New Roman" panose="02020603050405020304" pitchFamily="18" charset="0"/>
                        </a:rPr>
                        <a:t>Displays – Elsevier</a:t>
                      </a:r>
                      <a:r>
                        <a:rPr lang="en-US" sz="1400" b="0" dirty="0">
                          <a:latin typeface="Times New Roman" panose="02020603050405020304" pitchFamily="18" charset="0"/>
                          <a:cs typeface="Times New Roman" panose="02020603050405020304" pitchFamily="18" charset="0"/>
                        </a:rPr>
                        <a:t>)</a:t>
                      </a:r>
                      <a:endParaRPr lang="en-IN" sz="1400" b="0" i="0" dirty="0">
                        <a:latin typeface="Times New Roman" panose="02020603050405020304" pitchFamily="18" charset="0"/>
                        <a:cs typeface="Times New Roman" panose="02020603050405020304" pitchFamily="18" charset="0"/>
                      </a:endParaRPr>
                    </a:p>
                  </a:txBody>
                  <a:tcPr/>
                </a:tc>
                <a:tc>
                  <a:txBody>
                    <a:bodyPr/>
                    <a:lstStyle/>
                    <a:p>
                      <a:r>
                        <a:rPr lang="en-IN" sz="1400" b="0" dirty="0" err="1">
                          <a:latin typeface="Times New Roman" panose="02020603050405020304" pitchFamily="18" charset="0"/>
                          <a:cs typeface="Times New Roman" panose="02020603050405020304" pitchFamily="18" charset="0"/>
                        </a:rPr>
                        <a:t>FakeNewsNet</a:t>
                      </a:r>
                      <a:r>
                        <a:rPr lang="en-IN" sz="1400" b="0" dirty="0">
                          <a:latin typeface="Times New Roman" panose="02020603050405020304" pitchFamily="18" charset="0"/>
                          <a:cs typeface="Times New Roman" panose="02020603050405020304" pitchFamily="18" charset="0"/>
                        </a:rPr>
                        <a:t> repository: PolitiFact &amp; </a:t>
                      </a:r>
                      <a:r>
                        <a:rPr lang="en-IN" sz="1400" b="0" dirty="0" err="1">
                          <a:latin typeface="Times New Roman" panose="02020603050405020304" pitchFamily="18" charset="0"/>
                          <a:cs typeface="Times New Roman" panose="02020603050405020304" pitchFamily="18" charset="0"/>
                        </a:rPr>
                        <a:t>GossipCop</a:t>
                      </a:r>
                      <a:r>
                        <a:rPr lang="en-IN" sz="1400" b="0" dirty="0">
                          <a:latin typeface="Times New Roman" panose="02020603050405020304" pitchFamily="18" charset="0"/>
                          <a:cs typeface="Times New Roman" panose="02020603050405020304" pitchFamily="18" charset="0"/>
                        </a:rPr>
                        <a:t> datasets</a:t>
                      </a:r>
                      <a:r>
                        <a:rPr lang="en-US" sz="1600" dirty="0">
                          <a:latin typeface="Times New Roman" panose="02020603050405020304" pitchFamily="18" charset="0"/>
                          <a:cs typeface="Times New Roman" panose="02020603050405020304" pitchFamily="18" charset="0"/>
                        </a:rPr>
                        <a:t/>
                      </a:r>
                      <a:br>
                        <a:rPr lang="en-US" sz="1600"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400" b="0" dirty="0">
                          <a:latin typeface="Times New Roman" panose="02020603050405020304" pitchFamily="18" charset="0"/>
                          <a:cs typeface="Times New Roman" panose="02020603050405020304" pitchFamily="18" charset="0"/>
                        </a:rPr>
                        <a:t>Enhanced BERT (Transformer) with Joint Learning (NER + RFC + Stance Detection), Hierarchical Attention, Task-specific Masking</a:t>
                      </a:r>
                      <a:endParaRPr lang="en-IN" sz="1400" b="0" dirty="0">
                        <a:latin typeface="Times New Roman" panose="02020603050405020304" pitchFamily="18" charset="0"/>
                        <a:cs typeface="Times New Roman" panose="02020603050405020304" pitchFamily="18" charset="0"/>
                      </a:endParaRPr>
                    </a:p>
                  </a:txBody>
                  <a:tcPr/>
                </a:tc>
                <a:tc>
                  <a:txBody>
                    <a:bodyPr/>
                    <a:lstStyle/>
                    <a:p>
                      <a:r>
                        <a:rPr lang="en-US" sz="1400" b="0" dirty="0">
                          <a:latin typeface="Times New Roman" panose="02020603050405020304" pitchFamily="18" charset="0"/>
                          <a:cs typeface="Times New Roman" panose="02020603050405020304" pitchFamily="18" charset="0"/>
                        </a:rPr>
                        <a:t>Achieved state-of-the-art accuracy (up to 98% on </a:t>
                      </a:r>
                      <a:r>
                        <a:rPr lang="en-US" sz="1400" b="0" dirty="0" err="1">
                          <a:latin typeface="Times New Roman" panose="02020603050405020304" pitchFamily="18" charset="0"/>
                          <a:cs typeface="Times New Roman" panose="02020603050405020304" pitchFamily="18" charset="0"/>
                        </a:rPr>
                        <a:t>GossipCop</a:t>
                      </a:r>
                      <a:r>
                        <a:rPr lang="en-US" sz="1400" b="0" dirty="0">
                          <a:latin typeface="Times New Roman" panose="02020603050405020304" pitchFamily="18" charset="0"/>
                          <a:cs typeface="Times New Roman" panose="02020603050405020304" pitchFamily="18" charset="0"/>
                        </a:rPr>
                        <a:t>); strong contextual understanding. Limit: high computational cost, complex architecture.</a:t>
                      </a:r>
                      <a:endParaRPr lang="en-IN"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2617141171"/>
                  </a:ext>
                </a:extLst>
              </a:tr>
              <a:tr h="1808799">
                <a:tc>
                  <a:txBody>
                    <a:bodyPr/>
                    <a:lstStyle/>
                    <a:p>
                      <a:r>
                        <a:rPr lang="en-US" sz="1400" i="0" dirty="0">
                          <a:latin typeface="Times New Roman" panose="02020603050405020304" pitchFamily="18" charset="0"/>
                          <a:cs typeface="Times New Roman" panose="02020603050405020304" pitchFamily="18" charset="0"/>
                        </a:rPr>
                        <a:t>Fake news detection: comparative evaluation of BERT-like models and large language models with generative AI-annotated data (S. Raza, D. Paulen-Patterson &amp; C. Ding, 2025, Knowledge and Information Systems</a:t>
                      </a:r>
                      <a:r>
                        <a:rPr lang="en-US" sz="1400" i="0" dirty="0"/>
                        <a:t>)</a:t>
                      </a:r>
                      <a:endParaRPr lang="en-IN" sz="1400" b="0" i="0" dirty="0">
                        <a:latin typeface="Times New Roman" panose="02020603050405020304" pitchFamily="18" charset="0"/>
                        <a:cs typeface="Times New Roman" panose="02020603050405020304" pitchFamily="18" charset="0"/>
                      </a:endParaRPr>
                    </a:p>
                  </a:txBody>
                  <a:tcPr/>
                </a:tc>
                <a:tc>
                  <a:txBody>
                    <a:bodyPr/>
                    <a:lstStyle/>
                    <a:p>
                      <a:r>
                        <a:rPr lang="en-US" sz="1400" b="0" dirty="0">
                          <a:latin typeface="Times New Roman" panose="02020603050405020304" pitchFamily="18" charset="0"/>
                          <a:cs typeface="Times New Roman" panose="02020603050405020304" pitchFamily="18" charset="0"/>
                        </a:rPr>
                        <a:t>Custom dataset of news articles AI-annotated with GPT-4 and verified by human experts</a:t>
                      </a:r>
                      <a:endParaRPr lang="en-IN" sz="1400" b="0" dirty="0">
                        <a:latin typeface="Times New Roman" panose="02020603050405020304" pitchFamily="18" charset="0"/>
                        <a:cs typeface="Times New Roman" panose="02020603050405020304" pitchFamily="18" charset="0"/>
                      </a:endParaRPr>
                    </a:p>
                  </a:txBody>
                  <a:tcPr/>
                </a:tc>
                <a:tc>
                  <a:txBody>
                    <a:bodyPr/>
                    <a:lstStyle/>
                    <a:p>
                      <a:r>
                        <a:rPr lang="en-US" sz="1400" b="0" dirty="0">
                          <a:latin typeface="Times New Roman" panose="02020603050405020304" pitchFamily="18" charset="0"/>
                          <a:cs typeface="Times New Roman" panose="02020603050405020304" pitchFamily="18" charset="0"/>
                        </a:rPr>
                        <a:t>Fine-tuned BERT-like encoder models and autoregressive Large Language Models (LLMs); instruction-tuned LLM with majority voting during inference</a:t>
                      </a:r>
                      <a:endParaRPr lang="en-IN" sz="1400" b="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BERT-like models generally outperform LLMs in classification accuracy; LLMs show higher robustness to text perturbations; AI-generated labels with human verification improve performance.</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2566245004"/>
                  </a:ext>
                </a:extLst>
              </a:tr>
              <a:tr h="1808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latin typeface="Times New Roman" panose="02020603050405020304" pitchFamily="18" charset="0"/>
                          <a:cs typeface="Times New Roman" panose="02020603050405020304" pitchFamily="18" charset="0"/>
                        </a:rPr>
                        <a:t>A Knowledge-Based Deep Learning Approach for Automatic Fake News Detection using BERT on Twitter (Vinita Nair et al., 2024, </a:t>
                      </a:r>
                      <a:r>
                        <a:rPr lang="en-US" sz="1400" b="0" i="1" dirty="0">
                          <a:latin typeface="Times New Roman" panose="02020603050405020304" pitchFamily="18" charset="0"/>
                          <a:cs typeface="Times New Roman" panose="02020603050405020304" pitchFamily="18" charset="0"/>
                        </a:rPr>
                        <a:t>Procedia Computer Science – ICMLDE</a:t>
                      </a:r>
                      <a:r>
                        <a:rPr lang="en-US" sz="1400" b="0" dirty="0">
                          <a:latin typeface="Times New Roman" panose="02020603050405020304" pitchFamily="18" charset="0"/>
                          <a:cs typeface="Times New Roman" panose="02020603050405020304" pitchFamily="18" charset="0"/>
                        </a:rPr>
                        <a:t>)</a:t>
                      </a:r>
                      <a:endParaRPr lang="en-IN" sz="1400" b="0" i="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Twitter dataset; knowledge base built using SPO triples, sentiment polarity, occurrence, and topic modeling</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b="0" dirty="0">
                          <a:latin typeface="Times New Roman" panose="02020603050405020304" pitchFamily="18" charset="0"/>
                          <a:cs typeface="Times New Roman" panose="02020603050405020304" pitchFamily="18" charset="0"/>
                        </a:rPr>
                        <a:t>Knowledge-based pipeline (NER + LDA) + DL models</a:t>
                      </a:r>
                    </a:p>
                  </a:txBody>
                  <a:tcPr/>
                </a:tc>
                <a:tc>
                  <a:txBody>
                    <a:bodyPr/>
                    <a:lstStyle/>
                    <a:p>
                      <a:r>
                        <a:rPr lang="en-US" sz="1400" dirty="0">
                          <a:latin typeface="Times New Roman" panose="02020603050405020304" pitchFamily="18" charset="0"/>
                          <a:cs typeface="Times New Roman" panose="02020603050405020304" pitchFamily="18" charset="0"/>
                        </a:rPr>
                        <a:t>Knowledge-based features improve pattern discovery on Twitter; BERT shows strong performance.</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Limit: relies on KB construction and social-media noise; domain-specific to Twitter.</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3654989305"/>
                  </a:ext>
                </a:extLst>
              </a:tr>
            </a:tbl>
          </a:graphicData>
        </a:graphic>
      </p:graphicFrame>
      <p:sp>
        <p:nvSpPr>
          <p:cNvPr id="6" name="TextBox 5">
            <a:extLst>
              <a:ext uri="{FF2B5EF4-FFF2-40B4-BE49-F238E27FC236}">
                <a16:creationId xmlns:a16="http://schemas.microsoft.com/office/drawing/2014/main" xmlns="" id="{64CF683A-D30F-3AD9-0E63-35159BAE14D9}"/>
              </a:ext>
            </a:extLst>
          </p:cNvPr>
          <p:cNvSpPr txBox="1"/>
          <p:nvPr/>
        </p:nvSpPr>
        <p:spPr>
          <a:xfrm>
            <a:off x="2743200" y="228600"/>
            <a:ext cx="5791200"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LITERATURE REVIEW</a:t>
            </a:r>
          </a:p>
        </p:txBody>
      </p:sp>
    </p:spTree>
    <p:extLst>
      <p:ext uri="{BB962C8B-B14F-4D97-AF65-F5344CB8AC3E}">
        <p14:creationId xmlns:p14="http://schemas.microsoft.com/office/powerpoint/2010/main" val="3898928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xmlns="" id="{A4187283-E4C4-3FEF-3E19-F692EB2885BF}"/>
              </a:ext>
            </a:extLst>
          </p:cNvPr>
          <p:cNvGraphicFramePr>
            <a:graphicFrameLocks noGrp="1"/>
          </p:cNvGraphicFramePr>
          <p:nvPr>
            <p:ph idx="1"/>
            <p:extLst>
              <p:ext uri="{D42A27DB-BD31-4B8C-83A1-F6EECF244321}">
                <p14:modId xmlns:p14="http://schemas.microsoft.com/office/powerpoint/2010/main" val="1764877966"/>
              </p:ext>
            </p:extLst>
          </p:nvPr>
        </p:nvGraphicFramePr>
        <p:xfrm>
          <a:off x="457200" y="685800"/>
          <a:ext cx="8229600" cy="558546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xmlns="" val="2578185433"/>
                    </a:ext>
                  </a:extLst>
                </a:gridCol>
                <a:gridCol w="2057400">
                  <a:extLst>
                    <a:ext uri="{9D8B030D-6E8A-4147-A177-3AD203B41FA5}">
                      <a16:colId xmlns:a16="http://schemas.microsoft.com/office/drawing/2014/main" xmlns="" val="4194222709"/>
                    </a:ext>
                  </a:extLst>
                </a:gridCol>
                <a:gridCol w="2057400">
                  <a:extLst>
                    <a:ext uri="{9D8B030D-6E8A-4147-A177-3AD203B41FA5}">
                      <a16:colId xmlns:a16="http://schemas.microsoft.com/office/drawing/2014/main" xmlns="" val="1070154837"/>
                    </a:ext>
                  </a:extLst>
                </a:gridCol>
                <a:gridCol w="2057400">
                  <a:extLst>
                    <a:ext uri="{9D8B030D-6E8A-4147-A177-3AD203B41FA5}">
                      <a16:colId xmlns:a16="http://schemas.microsoft.com/office/drawing/2014/main" xmlns="" val="1340529469"/>
                    </a:ext>
                  </a:extLst>
                </a:gridCol>
              </a:tblGrid>
              <a:tr h="7772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Paper Details</a:t>
                      </a:r>
                    </a:p>
                    <a:p>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Datasets Used</a:t>
                      </a:r>
                    </a:p>
                    <a:p>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Algorithms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Remarks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3083542653"/>
                  </a:ext>
                </a:extLst>
              </a:tr>
              <a:tr h="2202180">
                <a:tc>
                  <a:txBody>
                    <a:bodyPr/>
                    <a:lstStyle/>
                    <a:p>
                      <a:r>
                        <a:rPr lang="en-IN" sz="1500" i="0" dirty="0">
                          <a:latin typeface="Times New Roman" panose="02020603050405020304" pitchFamily="18" charset="0"/>
                          <a:cs typeface="Times New Roman" panose="02020603050405020304" pitchFamily="18" charset="0"/>
                        </a:rPr>
                        <a:t>Enhancing Fake News Detection Using BERT: A Comparative Analysis of Logistic Regression, RFC, LSTM and BERT (A. Ramzan, R.H. Ali, N. Ali &amp; A. Khan, 2024, IEEE Conference)</a:t>
                      </a:r>
                    </a:p>
                  </a:txBody>
                  <a:tcPr/>
                </a:tc>
                <a:tc>
                  <a:txBody>
                    <a:bodyPr/>
                    <a:lstStyle/>
                    <a:p>
                      <a:r>
                        <a:rPr lang="en-US" sz="1500" b="0" dirty="0">
                          <a:latin typeface="Times New Roman" panose="02020603050405020304" pitchFamily="18" charset="0"/>
                          <a:cs typeface="Times New Roman" panose="02020603050405020304" pitchFamily="18" charset="0"/>
                        </a:rPr>
                        <a:t>Relatively small real-world fake news dataset (binary: Real / Fake; limited size to simulate real-world constraints)</a:t>
                      </a:r>
                      <a:endParaRPr lang="en-IN" sz="1500" b="0" dirty="0">
                        <a:latin typeface="Times New Roman" panose="02020603050405020304" pitchFamily="18" charset="0"/>
                        <a:cs typeface="Times New Roman" panose="02020603050405020304" pitchFamily="18" charset="0"/>
                      </a:endParaRPr>
                    </a:p>
                  </a:txBody>
                  <a:tcPr/>
                </a:tc>
                <a:tc>
                  <a:txBody>
                    <a:bodyPr/>
                    <a:lstStyle/>
                    <a:p>
                      <a:r>
                        <a:rPr lang="en-US" sz="1500" b="0" dirty="0">
                          <a:latin typeface="Times New Roman" panose="02020603050405020304" pitchFamily="18" charset="0"/>
                          <a:cs typeface="Times New Roman" panose="02020603050405020304" pitchFamily="18" charset="0"/>
                        </a:rPr>
                        <a:t>Logistic Regression, Random Forest Classifier (RFC), LSTM, and Fine-tuned BERT (Transformer)</a:t>
                      </a:r>
                      <a:endParaRPr lang="en-IN" sz="1500" b="0" dirty="0">
                        <a:latin typeface="Times New Roman" panose="02020603050405020304" pitchFamily="18" charset="0"/>
                        <a:cs typeface="Times New Roman" panose="02020603050405020304" pitchFamily="18" charset="0"/>
                      </a:endParaRPr>
                    </a:p>
                  </a:txBody>
                  <a:tcPr/>
                </a:tc>
                <a:tc>
                  <a:txBody>
                    <a:bodyPr/>
                    <a:lstStyle/>
                    <a:p>
                      <a:r>
                        <a:rPr lang="en-US" sz="1500" b="0" dirty="0">
                          <a:latin typeface="Times New Roman" panose="02020603050405020304" pitchFamily="18" charset="0"/>
                          <a:cs typeface="Times New Roman" panose="02020603050405020304" pitchFamily="18" charset="0"/>
                        </a:rPr>
                        <a:t>BERT outperformed traditional ML and LSTM models in accuracy and contextual understanding, even with small dataset size. Limit: dataset size constraints may affect generalization.</a:t>
                      </a:r>
                      <a:endParaRPr lang="en-IN" sz="15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4197748702"/>
                  </a:ext>
                </a:extLst>
              </a:tr>
              <a:tr h="2202180">
                <a:tc>
                  <a:txBody>
                    <a:bodyPr/>
                    <a:lstStyle/>
                    <a:p>
                      <a:r>
                        <a:rPr lang="en-US" sz="1500" i="0" dirty="0">
                          <a:latin typeface="Times New Roman" panose="02020603050405020304" pitchFamily="18" charset="0"/>
                          <a:cs typeface="Times New Roman" panose="02020603050405020304" pitchFamily="18" charset="0"/>
                        </a:rPr>
                        <a:t>Detection of Turkish Fake News from Tweets with BERT Models (G.K. Koru &amp; Ç. </a:t>
                      </a:r>
                      <a:r>
                        <a:rPr lang="en-US" sz="1500" i="0" dirty="0" err="1">
                          <a:latin typeface="Times New Roman" panose="02020603050405020304" pitchFamily="18" charset="0"/>
                          <a:cs typeface="Times New Roman" panose="02020603050405020304" pitchFamily="18" charset="0"/>
                        </a:rPr>
                        <a:t>Uluyol</a:t>
                      </a:r>
                      <a:r>
                        <a:rPr lang="en-US" sz="1500" i="0" dirty="0">
                          <a:latin typeface="Times New Roman" panose="02020603050405020304" pitchFamily="18" charset="0"/>
                          <a:cs typeface="Times New Roman" panose="02020603050405020304" pitchFamily="18" charset="0"/>
                        </a:rPr>
                        <a:t>, 2024, IEEE Access)</a:t>
                      </a:r>
                      <a:endParaRPr lang="en-IN" sz="1500" i="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Turkish Twitter dataset (real and fake news tweets); includes machine-generated and human-annotated samples</a:t>
                      </a:r>
                      <a:endParaRPr lang="en-IN" sz="1500" dirty="0">
                        <a:latin typeface="Times New Roman" panose="02020603050405020304" pitchFamily="18" charset="0"/>
                        <a:cs typeface="Times New Roman" panose="02020603050405020304" pitchFamily="18" charset="0"/>
                      </a:endParaRPr>
                    </a:p>
                  </a:txBody>
                  <a:tcPr/>
                </a:tc>
                <a:tc>
                  <a:txBody>
                    <a:bodyPr/>
                    <a:lstStyle/>
                    <a:p>
                      <a:r>
                        <a:rPr lang="en-US" sz="1500" b="0" dirty="0">
                          <a:latin typeface="Times New Roman" panose="02020603050405020304" pitchFamily="18" charset="0"/>
                          <a:cs typeface="Times New Roman" panose="02020603050405020304" pitchFamily="18" charset="0"/>
                        </a:rPr>
                        <a:t>Fine-tuned BERT models for Turkish language; compared with traditional ML approaches</a:t>
                      </a:r>
                      <a:endParaRPr lang="en-IN" sz="1500" b="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BERT models achieved higher accuracy than classical ML methods for Turkish tweets; shows effectiveness in low-resource language settings. Limit: focused only on Turkish Twitter domain, may limit cross-domain generalization.</a:t>
                      </a:r>
                      <a:endParaRPr lang="en-IN"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692267815"/>
                  </a:ext>
                </a:extLst>
              </a:tr>
            </a:tbl>
          </a:graphicData>
        </a:graphic>
      </p:graphicFrame>
    </p:spTree>
    <p:extLst>
      <p:ext uri="{BB962C8B-B14F-4D97-AF65-F5344CB8AC3E}">
        <p14:creationId xmlns:p14="http://schemas.microsoft.com/office/powerpoint/2010/main" val="33537881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2305077-3DD7-C5D8-D908-E1857A70254A}"/>
              </a:ext>
            </a:extLst>
          </p:cNvPr>
          <p:cNvSpPr>
            <a:spLocks noGrp="1"/>
          </p:cNvSpPr>
          <p:nvPr>
            <p:ph type="title"/>
          </p:nvPr>
        </p:nvSpPr>
        <p:spPr>
          <a:xfrm>
            <a:off x="457200" y="0"/>
            <a:ext cx="8229600" cy="1066800"/>
          </a:xfrm>
        </p:spPr>
        <p:txBody>
          <a:bodyPr>
            <a:normAutofit/>
          </a:bodyPr>
          <a:lstStyle/>
          <a:p>
            <a:r>
              <a:rPr lang="en-IN" sz="3200" b="1" dirty="0">
                <a:latin typeface="Times New Roman" panose="02020603050405020304" pitchFamily="18" charset="0"/>
                <a:cs typeface="Times New Roman" panose="02020603050405020304" pitchFamily="18" charset="0"/>
              </a:rPr>
              <a:t>DATASETS AND REQUIREMENTS</a:t>
            </a:r>
          </a:p>
        </p:txBody>
      </p:sp>
      <p:sp>
        <p:nvSpPr>
          <p:cNvPr id="3" name="Content Placeholder 2">
            <a:extLst>
              <a:ext uri="{FF2B5EF4-FFF2-40B4-BE49-F238E27FC236}">
                <a16:creationId xmlns:a16="http://schemas.microsoft.com/office/drawing/2014/main" xmlns="" id="{4FB4E809-3924-5C88-71C9-CB0A38B2D287}"/>
              </a:ext>
            </a:extLst>
          </p:cNvPr>
          <p:cNvSpPr>
            <a:spLocks noGrp="1"/>
          </p:cNvSpPr>
          <p:nvPr>
            <p:ph idx="1"/>
          </p:nvPr>
        </p:nvSpPr>
        <p:spPr>
          <a:xfrm>
            <a:off x="685800" y="1143000"/>
            <a:ext cx="8001000" cy="5486400"/>
          </a:xfrm>
        </p:spPr>
        <p:txBody>
          <a:bodyPr>
            <a:noAutofit/>
          </a:bodyPr>
          <a:lstStyle/>
          <a:p>
            <a:pPr marL="0" indent="0">
              <a:buNone/>
            </a:pPr>
            <a:r>
              <a:rPr lang="en-IN" sz="1700" b="1" dirty="0">
                <a:latin typeface="Times New Roman" panose="02020603050405020304" pitchFamily="18" charset="0"/>
                <a:cs typeface="Times New Roman" panose="02020603050405020304" pitchFamily="18" charset="0"/>
              </a:rPr>
              <a:t>DATASETS:</a:t>
            </a:r>
          </a:p>
          <a:p>
            <a:r>
              <a:rPr lang="en-US" sz="1700" dirty="0">
                <a:latin typeface="Times New Roman" panose="02020603050405020304" pitchFamily="18" charset="0"/>
                <a:cs typeface="Times New Roman" panose="02020603050405020304" pitchFamily="18" charset="0"/>
              </a:rPr>
              <a:t>Source: Kaggle: Fake-News-Dataset </a:t>
            </a:r>
            <a:r>
              <a:rPr lang="en-US" sz="1700" dirty="0" smtClean="0">
                <a:latin typeface="Times New Roman" panose="02020603050405020304" pitchFamily="18" charset="0"/>
                <a:cs typeface="Times New Roman" panose="02020603050405020304" pitchFamily="18" charset="0"/>
              </a:rPr>
              <a:t> </a:t>
            </a:r>
            <a:r>
              <a:rPr lang="en-US" sz="1700" dirty="0">
                <a:latin typeface="Times New Roman" panose="02020603050405020304" pitchFamily="18" charset="0"/>
                <a:cs typeface="Times New Roman" panose="02020603050405020304" pitchFamily="18" charset="0"/>
              </a:rPr>
              <a:t>– public fake &amp; real news dataset</a:t>
            </a:r>
          </a:p>
          <a:p>
            <a:r>
              <a:rPr lang="en-IN" sz="1700" dirty="0">
                <a:latin typeface="Times New Roman" panose="02020603050405020304" pitchFamily="18" charset="0"/>
                <a:cs typeface="Times New Roman" panose="02020603050405020304" pitchFamily="18" charset="0"/>
              </a:rPr>
              <a:t>The dataset contains 2 classes:</a:t>
            </a:r>
          </a:p>
          <a:p>
            <a:pPr marL="685800" lvl="1">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Fake news articles</a:t>
            </a:r>
          </a:p>
          <a:p>
            <a:pPr marL="685800" lvl="1">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Real news articles</a:t>
            </a:r>
          </a:p>
          <a:p>
            <a:r>
              <a:rPr lang="en-IN" sz="1700" dirty="0">
                <a:latin typeface="Times New Roman" panose="02020603050405020304" pitchFamily="18" charset="0"/>
                <a:cs typeface="Times New Roman" panose="02020603050405020304" pitchFamily="18" charset="0"/>
              </a:rPr>
              <a:t>Dataset split: </a:t>
            </a:r>
            <a:r>
              <a:rPr lang="en-IN" sz="1600" dirty="0">
                <a:latin typeface="Times New Roman" panose="02020603050405020304" pitchFamily="18" charset="0"/>
                <a:cs typeface="Times New Roman" panose="02020603050405020304" pitchFamily="18" charset="0"/>
              </a:rPr>
              <a:t>Train (70%), Validation (15%), Test (15%)</a:t>
            </a:r>
          </a:p>
          <a:p>
            <a:pPr marL="0" indent="0">
              <a:buNone/>
            </a:pPr>
            <a:r>
              <a:rPr lang="en-IN" sz="1700" b="1" dirty="0">
                <a:latin typeface="Times New Roman" panose="02020603050405020304" pitchFamily="18" charset="0"/>
                <a:cs typeface="Times New Roman" panose="02020603050405020304" pitchFamily="18" charset="0"/>
              </a:rPr>
              <a:t>REQUIREMENTS:</a:t>
            </a:r>
          </a:p>
          <a:p>
            <a:r>
              <a:rPr lang="en-IN" sz="1700" dirty="0">
                <a:latin typeface="Times New Roman" panose="02020603050405020304" pitchFamily="18" charset="0"/>
                <a:cs typeface="Times New Roman" panose="02020603050405020304" pitchFamily="18" charset="0"/>
              </a:rPr>
              <a:t>Programming Language: Python</a:t>
            </a:r>
          </a:p>
          <a:p>
            <a:r>
              <a:rPr lang="en-IN" sz="1700" dirty="0">
                <a:latin typeface="Times New Roman" panose="02020603050405020304" pitchFamily="18" charset="0"/>
                <a:cs typeface="Times New Roman" panose="02020603050405020304" pitchFamily="18" charset="0"/>
              </a:rPr>
              <a:t>Deep Learning Framework: </a:t>
            </a:r>
            <a:r>
              <a:rPr lang="en-IN" sz="1700" dirty="0" err="1">
                <a:latin typeface="Times New Roman" panose="02020603050405020304" pitchFamily="18" charset="0"/>
                <a:cs typeface="Times New Roman" panose="02020603050405020304" pitchFamily="18" charset="0"/>
              </a:rPr>
              <a:t>PyTorch</a:t>
            </a:r>
            <a:endParaRPr lang="en-IN" sz="1700" dirty="0">
              <a:latin typeface="Times New Roman" panose="02020603050405020304" pitchFamily="18" charset="0"/>
              <a:cs typeface="Times New Roman" panose="02020603050405020304" pitchFamily="18" charset="0"/>
            </a:endParaRPr>
          </a:p>
          <a:p>
            <a:r>
              <a:rPr lang="en-IN" sz="1700" dirty="0">
                <a:latin typeface="Times New Roman" panose="02020603050405020304" pitchFamily="18" charset="0"/>
                <a:cs typeface="Times New Roman" panose="02020603050405020304" pitchFamily="18" charset="0"/>
              </a:rPr>
              <a:t>NLP Libraries: </a:t>
            </a:r>
            <a:r>
              <a:rPr lang="en-IN" sz="1700" dirty="0" err="1">
                <a:latin typeface="Times New Roman" panose="02020603050405020304" pitchFamily="18" charset="0"/>
                <a:cs typeface="Times New Roman" panose="02020603050405020304" pitchFamily="18" charset="0"/>
              </a:rPr>
              <a:t>HuggingFace</a:t>
            </a:r>
            <a:r>
              <a:rPr lang="en-IN" sz="1700" dirty="0">
                <a:latin typeface="Times New Roman" panose="02020603050405020304" pitchFamily="18" charset="0"/>
                <a:cs typeface="Times New Roman" panose="02020603050405020304" pitchFamily="18" charset="0"/>
              </a:rPr>
              <a:t> Transformers, </a:t>
            </a:r>
            <a:r>
              <a:rPr lang="en-IN" sz="1700" dirty="0" err="1">
                <a:latin typeface="Times New Roman" panose="02020603050405020304" pitchFamily="18" charset="0"/>
                <a:cs typeface="Times New Roman" panose="02020603050405020304" pitchFamily="18" charset="0"/>
              </a:rPr>
              <a:t>spaCy</a:t>
            </a:r>
            <a:r>
              <a:rPr lang="en-IN" sz="1700" dirty="0">
                <a:latin typeface="Times New Roman" panose="02020603050405020304" pitchFamily="18" charset="0"/>
                <a:cs typeface="Times New Roman" panose="02020603050405020304" pitchFamily="18" charset="0"/>
              </a:rPr>
              <a:t>, NLTK</a:t>
            </a:r>
          </a:p>
          <a:p>
            <a:r>
              <a:rPr lang="en-IN" sz="1700" dirty="0">
                <a:latin typeface="Times New Roman" panose="02020603050405020304" pitchFamily="18" charset="0"/>
                <a:cs typeface="Times New Roman" panose="02020603050405020304" pitchFamily="18" charset="0"/>
              </a:rPr>
              <a:t>Model: Fine-tuned Transformer (BERT Base / </a:t>
            </a:r>
            <a:r>
              <a:rPr lang="en-IN" sz="1700" dirty="0" err="1">
                <a:latin typeface="Times New Roman" panose="02020603050405020304" pitchFamily="18" charset="0"/>
                <a:cs typeface="Times New Roman" panose="02020603050405020304" pitchFamily="18" charset="0"/>
              </a:rPr>
              <a:t>DistilBERT</a:t>
            </a:r>
            <a:r>
              <a:rPr lang="en-IN" sz="1700" dirty="0">
                <a:latin typeface="Times New Roman" panose="02020603050405020304" pitchFamily="18" charset="0"/>
                <a:cs typeface="Times New Roman" panose="02020603050405020304" pitchFamily="18" charset="0"/>
              </a:rPr>
              <a:t>)</a:t>
            </a:r>
          </a:p>
          <a:p>
            <a:r>
              <a:rPr lang="en-IN" sz="1700" dirty="0">
                <a:latin typeface="Times New Roman" panose="02020603050405020304" pitchFamily="18" charset="0"/>
                <a:cs typeface="Times New Roman" panose="02020603050405020304" pitchFamily="18" charset="0"/>
              </a:rPr>
              <a:t>Optimizer: </a:t>
            </a:r>
            <a:r>
              <a:rPr lang="en-IN" sz="1700" dirty="0" err="1">
                <a:latin typeface="Times New Roman" panose="02020603050405020304" pitchFamily="18" charset="0"/>
                <a:cs typeface="Times New Roman" panose="02020603050405020304" pitchFamily="18" charset="0"/>
              </a:rPr>
              <a:t>AdamW</a:t>
            </a:r>
            <a:endParaRPr lang="en-IN" sz="1700" dirty="0">
              <a:latin typeface="Times New Roman" panose="02020603050405020304" pitchFamily="18" charset="0"/>
              <a:cs typeface="Times New Roman" panose="02020603050405020304" pitchFamily="18" charset="0"/>
            </a:endParaRPr>
          </a:p>
          <a:p>
            <a:r>
              <a:rPr lang="en-IN" sz="1700" dirty="0">
                <a:latin typeface="Times New Roman" panose="02020603050405020304" pitchFamily="18" charset="0"/>
                <a:cs typeface="Times New Roman" panose="02020603050405020304" pitchFamily="18" charset="0"/>
              </a:rPr>
              <a:t>Loss Function: Cross-Entropy / Task-specific joint loss (if multi-task)</a:t>
            </a:r>
          </a:p>
          <a:p>
            <a:r>
              <a:rPr lang="en-IN" sz="1700" dirty="0">
                <a:latin typeface="Times New Roman" panose="02020603050405020304" pitchFamily="18" charset="0"/>
                <a:cs typeface="Times New Roman" panose="02020603050405020304" pitchFamily="18" charset="0"/>
              </a:rPr>
              <a:t>Evaluation Metrics: Accuracy, F1-Score, Precision, Recall, Confusion Matrix</a:t>
            </a:r>
          </a:p>
          <a:p>
            <a:pPr marL="0" indent="0">
              <a:buNone/>
            </a:pPr>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2342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ARCHITECTURE DIAGRAM</a:t>
            </a:r>
          </a:p>
        </p:txBody>
      </p:sp>
      <p:sp>
        <p:nvSpPr>
          <p:cNvPr id="3" name="AutoShape 2" descr="blob:https://web.whatsapp.com/4e1a255c-938c-4994-b8b1-b7d12637586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5" descr="blob:https://web.whatsapp.com/7f7dd765-5586-4dbd-9685-4d0211256c19"/>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xmlns="" id="{D24842AF-833F-798F-AEDB-EF1C19B81D79}"/>
              </a:ext>
            </a:extLst>
          </p:cNvPr>
          <p:cNvPicPr>
            <a:picLocks noChangeAspect="1"/>
          </p:cNvPicPr>
          <p:nvPr/>
        </p:nvPicPr>
        <p:blipFill>
          <a:blip r:embed="rId2"/>
          <a:stretch>
            <a:fillRect/>
          </a:stretch>
        </p:blipFill>
        <p:spPr>
          <a:xfrm>
            <a:off x="228600" y="1417638"/>
            <a:ext cx="8686800" cy="5165724"/>
          </a:xfrm>
          <a:prstGeom prst="rect">
            <a:avLst/>
          </a:prstGeom>
        </p:spPr>
      </p:pic>
    </p:spTree>
    <p:extLst>
      <p:ext uri="{BB962C8B-B14F-4D97-AF65-F5344CB8AC3E}">
        <p14:creationId xmlns:p14="http://schemas.microsoft.com/office/powerpoint/2010/main" val="16864013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IN" sz="3200" b="1" dirty="0">
                <a:latin typeface="Times New Roman" panose="02020603050405020304" pitchFamily="18" charset="0"/>
                <a:cs typeface="Times New Roman" panose="02020603050405020304" pitchFamily="18" charset="0"/>
              </a:rPr>
              <a:t>ALGORITHMS INVOLVED</a:t>
            </a:r>
            <a:endParaRPr lang="en-IN" sz="3200" b="1"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85800" y="1143000"/>
                <a:ext cx="8001000" cy="4419601"/>
              </a:xfrm>
            </p:spPr>
            <p:txBody>
              <a:bodyPr spcCol="640080">
                <a:noAutofit/>
              </a:bodyPr>
              <a:lstStyle/>
              <a:p>
                <a:pPr marL="0" indent="0">
                  <a:buNone/>
                </a:pPr>
                <a:r>
                  <a:rPr lang="en-US" sz="1800" b="1" dirty="0">
                    <a:latin typeface="Times New Roman" panose="02020603050405020304" pitchFamily="18" charset="0"/>
                    <a:cs typeface="Times New Roman" panose="02020603050405020304" pitchFamily="18" charset="0"/>
                  </a:rPr>
                  <a:t>Algorithm: </a:t>
                </a:r>
                <a:r>
                  <a:rPr lang="en-US" sz="1800" dirty="0">
                    <a:latin typeface="Times New Roman" panose="02020603050405020304" pitchFamily="18" charset="0"/>
                    <a:cs typeface="Times New Roman" panose="02020603050405020304" pitchFamily="18" charset="0"/>
                  </a:rPr>
                  <a:t>BERT-Based Fake News Detection</a:t>
                </a:r>
              </a:p>
              <a:p>
                <a:pPr marL="0" indent="0">
                  <a:buNone/>
                </a:pPr>
                <a:r>
                  <a:rPr lang="en-US" sz="1800" b="1" dirty="0">
                    <a:latin typeface="Times New Roman" panose="02020603050405020304" pitchFamily="18" charset="0"/>
                    <a:cs typeface="Times New Roman" panose="02020603050405020304" pitchFamily="18" charset="0"/>
                  </a:rPr>
                  <a:t>Input: </a:t>
                </a:r>
                <a:r>
                  <a:rPr lang="en-US" sz="1800" dirty="0">
                    <a:latin typeface="Times New Roman" panose="02020603050405020304" pitchFamily="18" charset="0"/>
                    <a:cs typeface="Times New Roman" panose="02020603050405020304" pitchFamily="18" charset="0"/>
                  </a:rPr>
                  <a:t>Raw news text sequence S.</a:t>
                </a:r>
              </a:p>
              <a:p>
                <a:pPr marL="0" indent="0">
                  <a:buNone/>
                </a:pPr>
                <a:r>
                  <a:rPr lang="en-US" sz="1800" b="1" dirty="0">
                    <a:latin typeface="Times New Roman" panose="02020603050405020304" pitchFamily="18" charset="0"/>
                    <a:cs typeface="Times New Roman" panose="02020603050405020304" pitchFamily="18" charset="0"/>
                  </a:rPr>
                  <a:t>Output: </a:t>
                </a:r>
                <a:r>
                  <a:rPr lang="en-US" sz="1800" dirty="0">
                    <a:latin typeface="Times New Roman" panose="02020603050405020304" pitchFamily="18" charset="0"/>
                    <a:cs typeface="Times New Roman" panose="02020603050405020304" pitchFamily="18" charset="0"/>
                  </a:rPr>
                  <a:t>Predicted class label y (Real/Fake).</a:t>
                </a:r>
              </a:p>
              <a:p>
                <a:pPr marL="0" indent="0" algn="just">
                  <a:buNone/>
                </a:pPr>
                <a:r>
                  <a:rPr lang="en-US" sz="1800" b="1" dirty="0">
                    <a:latin typeface="Times New Roman" panose="02020603050405020304" pitchFamily="18" charset="0"/>
                    <a:cs typeface="Times New Roman" panose="02020603050405020304" pitchFamily="18" charset="0"/>
                  </a:rPr>
                  <a:t>Step 1:  </a:t>
                </a:r>
                <a:r>
                  <a:rPr lang="en-US" sz="1800" dirty="0">
                    <a:latin typeface="Times New Roman" panose="02020603050405020304" pitchFamily="18" charset="0"/>
                    <a:cs typeface="Times New Roman" panose="02020603050405020304" pitchFamily="18" charset="0"/>
                  </a:rPr>
                  <a:t>The raw text S is processed using </a:t>
                </a:r>
                <a:r>
                  <a:rPr lang="en-US" sz="1800" dirty="0" smtClean="0">
                    <a:latin typeface="Times New Roman" panose="02020603050405020304" pitchFamily="18" charset="0"/>
                    <a:cs typeface="Times New Roman" panose="02020603050405020304" pitchFamily="18" charset="0"/>
                  </a:rPr>
                  <a:t>Word Piece </a:t>
                </a:r>
                <a:r>
                  <a:rPr lang="en-US" sz="1800" dirty="0">
                    <a:latin typeface="Times New Roman" panose="02020603050405020304" pitchFamily="18" charset="0"/>
                    <a:cs typeface="Times New Roman" panose="02020603050405020304" pitchFamily="18" charset="0"/>
                  </a:rPr>
                  <a:t>tokenization to produce a        	sequence of n tokens. Special markers are inserted to format the sequence 	                     </a:t>
                </a:r>
                <a14:m>
                  <m:oMath xmlns:m="http://schemas.openxmlformats.org/officeDocument/2006/math">
                    <m:r>
                      <a:rPr lang="en-US" sz="1800" i="1" dirty="0" smtClean="0">
                        <a:latin typeface="Cambria Math"/>
                        <a:cs typeface="Times New Roman" panose="02020603050405020304" pitchFamily="18" charset="0"/>
                      </a:rPr>
                      <m:t>𝑋</m:t>
                    </m:r>
                    <m:r>
                      <a:rPr lang="en-US" sz="1800" i="1" dirty="0" smtClean="0">
                        <a:latin typeface="Cambria Math"/>
                        <a:cs typeface="Times New Roman" panose="02020603050405020304" pitchFamily="18" charset="0"/>
                      </a:rPr>
                      <m:t>=</m:t>
                    </m:r>
                    <m:d>
                      <m:dPr>
                        <m:begChr m:val="{"/>
                        <m:endChr m:val="}"/>
                        <m:ctrlPr>
                          <a:rPr lang="en-US" sz="1800" i="1" dirty="0" smtClean="0">
                            <a:latin typeface="Cambria Math"/>
                            <a:cs typeface="Times New Roman" panose="02020603050405020304" pitchFamily="18" charset="0"/>
                          </a:rPr>
                        </m:ctrlPr>
                      </m:dPr>
                      <m:e>
                        <m:d>
                          <m:dPr>
                            <m:begChr m:val="["/>
                            <m:endChr m:val="]"/>
                            <m:ctrlPr>
                              <a:rPr lang="en-US" sz="1800" i="1" dirty="0" smtClean="0">
                                <a:latin typeface="Cambria Math"/>
                                <a:cs typeface="Times New Roman" panose="02020603050405020304" pitchFamily="18" charset="0"/>
                              </a:rPr>
                            </m:ctrlPr>
                          </m:dPr>
                          <m:e>
                            <m:r>
                              <a:rPr lang="en-US" sz="1800" i="1" dirty="0" smtClean="0">
                                <a:latin typeface="Cambria Math"/>
                                <a:cs typeface="Times New Roman" panose="02020603050405020304" pitchFamily="18" charset="0"/>
                              </a:rPr>
                              <m:t>𝐶𝐿𝑆</m:t>
                            </m:r>
                          </m:e>
                        </m:d>
                        <m:r>
                          <a:rPr lang="en-US" sz="1800" i="1" dirty="0" smtClean="0">
                            <a:latin typeface="Cambria Math"/>
                            <a:cs typeface="Times New Roman" panose="02020603050405020304" pitchFamily="18" charset="0"/>
                          </a:rPr>
                          <m:t>,</m:t>
                        </m:r>
                        <m:sSub>
                          <m:sSubPr>
                            <m:ctrlPr>
                              <a:rPr lang="en-US" sz="1800" b="0" i="1" dirty="0" smtClean="0">
                                <a:latin typeface="Cambria Math"/>
                                <a:cs typeface="Times New Roman" panose="02020603050405020304" pitchFamily="18" charset="0"/>
                              </a:rPr>
                            </m:ctrlPr>
                          </m:sSubPr>
                          <m:e>
                            <m:r>
                              <a:rPr lang="en-US" sz="1800" b="0" i="1" dirty="0" smtClean="0">
                                <a:latin typeface="Cambria Math"/>
                                <a:cs typeface="Times New Roman" panose="02020603050405020304" pitchFamily="18" charset="0"/>
                              </a:rPr>
                              <m:t>𝑤</m:t>
                            </m:r>
                          </m:e>
                          <m:sub>
                            <m:r>
                              <a:rPr lang="en-US" sz="1800" b="0" i="1" dirty="0" smtClean="0">
                                <a:latin typeface="Cambria Math"/>
                                <a:cs typeface="Times New Roman" panose="02020603050405020304" pitchFamily="18" charset="0"/>
                              </a:rPr>
                              <m:t>1</m:t>
                            </m:r>
                            <m:r>
                              <a:rPr lang="en-US" sz="1800" b="0" i="1" dirty="0" smtClean="0">
                                <a:latin typeface="Cambria Math"/>
                                <a:cs typeface="Times New Roman" panose="02020603050405020304" pitchFamily="18" charset="0"/>
                              </a:rPr>
                              <m:t>,</m:t>
                            </m:r>
                          </m:sub>
                        </m:sSub>
                        <m:sSub>
                          <m:sSubPr>
                            <m:ctrlPr>
                              <a:rPr lang="en-US" sz="1800" b="0" i="1" dirty="0" smtClean="0">
                                <a:latin typeface="Cambria Math"/>
                                <a:cs typeface="Times New Roman" panose="02020603050405020304" pitchFamily="18" charset="0"/>
                              </a:rPr>
                            </m:ctrlPr>
                          </m:sSubPr>
                          <m:e>
                            <m:r>
                              <a:rPr lang="en-US" sz="1800" i="1" dirty="0">
                                <a:latin typeface="Cambria Math"/>
                                <a:cs typeface="Times New Roman" panose="02020603050405020304" pitchFamily="18" charset="0"/>
                              </a:rPr>
                              <m:t>𝑤</m:t>
                            </m:r>
                          </m:e>
                          <m:sub>
                            <m:r>
                              <a:rPr lang="en-US" sz="1800" b="0" i="1" dirty="0" smtClean="0">
                                <a:latin typeface="Cambria Math"/>
                                <a:cs typeface="Times New Roman" panose="02020603050405020304" pitchFamily="18" charset="0"/>
                              </a:rPr>
                              <m:t>2</m:t>
                            </m:r>
                            <m:r>
                              <a:rPr lang="en-US" sz="1800" i="1" dirty="0">
                                <a:latin typeface="Cambria Math"/>
                                <a:cs typeface="Times New Roman" panose="02020603050405020304" pitchFamily="18" charset="0"/>
                              </a:rPr>
                              <m:t>,</m:t>
                            </m:r>
                          </m:sub>
                        </m:sSub>
                        <m:r>
                          <a:rPr lang="en-US" sz="1800" b="0" i="1" dirty="0" smtClean="0">
                            <a:latin typeface="Cambria Math"/>
                            <a:cs typeface="Times New Roman" panose="02020603050405020304" pitchFamily="18" charset="0"/>
                          </a:rPr>
                          <m:t>…,</m:t>
                        </m:r>
                        <m:sSub>
                          <m:sSubPr>
                            <m:ctrlPr>
                              <a:rPr lang="en-US" sz="1800" b="0" i="1" dirty="0" smtClean="0">
                                <a:latin typeface="Cambria Math"/>
                                <a:cs typeface="Times New Roman" panose="02020603050405020304" pitchFamily="18" charset="0"/>
                              </a:rPr>
                            </m:ctrlPr>
                          </m:sSubPr>
                          <m:e>
                            <m:r>
                              <a:rPr lang="en-US" sz="1800" i="1" dirty="0">
                                <a:latin typeface="Cambria Math"/>
                                <a:cs typeface="Times New Roman" panose="02020603050405020304" pitchFamily="18" charset="0"/>
                              </a:rPr>
                              <m:t>𝑤</m:t>
                            </m:r>
                          </m:e>
                          <m:sub>
                            <m:r>
                              <a:rPr lang="en-US" sz="1800" b="0" i="1" dirty="0" smtClean="0">
                                <a:latin typeface="Cambria Math"/>
                                <a:cs typeface="Times New Roman" panose="02020603050405020304" pitchFamily="18" charset="0"/>
                              </a:rPr>
                              <m:t>𝑛</m:t>
                            </m:r>
                            <m:r>
                              <a:rPr lang="en-US" sz="1800" i="1" dirty="0">
                                <a:latin typeface="Cambria Math"/>
                                <a:cs typeface="Times New Roman" panose="02020603050405020304" pitchFamily="18" charset="0"/>
                              </a:rPr>
                              <m:t>,</m:t>
                            </m:r>
                          </m:sub>
                        </m:sSub>
                        <m:r>
                          <a:rPr lang="en-US" sz="1800" i="1" dirty="0" smtClean="0">
                            <a:latin typeface="Cambria Math"/>
                            <a:cs typeface="Times New Roman" panose="02020603050405020304" pitchFamily="18" charset="0"/>
                          </a:rPr>
                          <m:t> </m:t>
                        </m:r>
                        <m:d>
                          <m:dPr>
                            <m:begChr m:val="["/>
                            <m:endChr m:val="]"/>
                            <m:ctrlPr>
                              <a:rPr lang="en-US" sz="1800" i="1" dirty="0" smtClean="0">
                                <a:latin typeface="Cambria Math"/>
                                <a:cs typeface="Times New Roman" panose="02020603050405020304" pitchFamily="18" charset="0"/>
                              </a:rPr>
                            </m:ctrlPr>
                          </m:dPr>
                          <m:e>
                            <m:r>
                              <a:rPr lang="en-US" sz="1800" i="1" dirty="0" smtClean="0">
                                <a:latin typeface="Cambria Math"/>
                                <a:cs typeface="Times New Roman" panose="02020603050405020304" pitchFamily="18" charset="0"/>
                              </a:rPr>
                              <m:t>𝑆𝐸𝑃</m:t>
                            </m:r>
                          </m:e>
                        </m:d>
                      </m:e>
                    </m:d>
                  </m:oMath>
                </a14:m>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cs typeface="Times New Roman" panose="02020603050405020304" pitchFamily="18" charset="0"/>
                  </a:rPr>
                  <a:t>Step 2:     </a:t>
                </a:r>
                <a:r>
                  <a:rPr lang="en-US" sz="1800" dirty="0">
                    <a:latin typeface="Times New Roman" panose="02020603050405020304" pitchFamily="18" charset="0"/>
                    <a:cs typeface="Times New Roman" panose="02020603050405020304" pitchFamily="18" charset="0"/>
                  </a:rPr>
                  <a:t>Each token </a:t>
                </a:r>
                <a14:m>
                  <m:oMath xmlns:m="http://schemas.openxmlformats.org/officeDocument/2006/math">
                    <m:sSub>
                      <m:sSubPr>
                        <m:ctrlPr>
                          <a:rPr lang="en-US" sz="1800" i="1" dirty="0">
                            <a:latin typeface="Cambria Math"/>
                            <a:cs typeface="Times New Roman" panose="02020603050405020304" pitchFamily="18" charset="0"/>
                          </a:rPr>
                        </m:ctrlPr>
                      </m:sSubPr>
                      <m:e>
                        <m:r>
                          <a:rPr lang="en-US" sz="1800" b="0" i="1" dirty="0" smtClean="0">
                            <a:latin typeface="Cambria Math"/>
                            <a:cs typeface="Times New Roman" panose="02020603050405020304" pitchFamily="18" charset="0"/>
                          </a:rPr>
                          <m:t>𝑋</m:t>
                        </m:r>
                      </m:e>
                      <m:sub>
                        <m:r>
                          <a:rPr lang="en-US" sz="1800" i="1" dirty="0">
                            <a:latin typeface="Cambria Math"/>
                            <a:cs typeface="Times New Roman" panose="02020603050405020304" pitchFamily="18" charset="0"/>
                          </a:rPr>
                          <m:t>𝑖</m:t>
                        </m:r>
                      </m:sub>
                    </m:sSub>
                  </m:oMath>
                </a14:m>
                <a:r>
                  <a:rPr lang="en-US" sz="1800" dirty="0">
                    <a:latin typeface="Times New Roman" panose="02020603050405020304" pitchFamily="18" charset="0"/>
                    <a:cs typeface="Times New Roman" panose="02020603050405020304" pitchFamily="18" charset="0"/>
                  </a:rPr>
                  <a:t> is converted into a high-dimensional vector </a:t>
                </a:r>
                <a14:m>
                  <m:oMath xmlns:m="http://schemas.openxmlformats.org/officeDocument/2006/math">
                    <m:sSub>
                      <m:sSubPr>
                        <m:ctrlPr>
                          <a:rPr lang="en-US" sz="1800" i="1" dirty="0" smtClean="0">
                            <a:latin typeface="Cambria Math"/>
                            <a:cs typeface="Times New Roman" panose="02020603050405020304" pitchFamily="18" charset="0"/>
                          </a:rPr>
                        </m:ctrlPr>
                      </m:sSubPr>
                      <m:e>
                        <m:r>
                          <a:rPr lang="en-US" sz="1800" b="0" i="1" dirty="0" smtClean="0">
                            <a:latin typeface="Cambria Math"/>
                            <a:cs typeface="Times New Roman" panose="02020603050405020304" pitchFamily="18" charset="0"/>
                          </a:rPr>
                          <m:t>𝐸</m:t>
                        </m:r>
                      </m:e>
                      <m:sub>
                        <m:r>
                          <a:rPr lang="en-US" sz="1800" b="0" i="1" dirty="0" smtClean="0">
                            <a:latin typeface="Cambria Math"/>
                            <a:cs typeface="Times New Roman" panose="02020603050405020304" pitchFamily="18" charset="0"/>
                          </a:rPr>
                          <m:t>𝑖</m:t>
                        </m:r>
                      </m:sub>
                    </m:sSub>
                  </m:oMath>
                </a14:m>
                <a:r>
                  <a:rPr lang="en-US" sz="1800" dirty="0">
                    <a:latin typeface="Times New Roman" panose="02020603050405020304" pitchFamily="18" charset="0"/>
                    <a:cs typeface="Times New Roman" panose="02020603050405020304" pitchFamily="18" charset="0"/>
                  </a:rPr>
                  <a:t>by 	   	 calculating the element-wise sum of token, position, and segment 	  	  embeddings:</a:t>
                </a:r>
              </a:p>
              <a:p>
                <a:pPr marL="0" indent="0" algn="just">
                  <a:buNone/>
                </a:pPr>
                <a:r>
                  <a:rPr lang="en-US" sz="18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1800" i="1" dirty="0" smtClean="0">
                            <a:latin typeface="Cambria Math"/>
                            <a:cs typeface="Times New Roman" panose="02020603050405020304" pitchFamily="18" charset="0"/>
                          </a:rPr>
                        </m:ctrlPr>
                      </m:sSubPr>
                      <m:e>
                        <m:r>
                          <a:rPr lang="en-US" sz="1800" i="1" dirty="0" smtClean="0">
                            <a:latin typeface="Cambria Math"/>
                            <a:cs typeface="Times New Roman" panose="02020603050405020304" pitchFamily="18" charset="0"/>
                          </a:rPr>
                          <m:t>𝐸</m:t>
                        </m:r>
                      </m:e>
                      <m:sub>
                        <m:r>
                          <a:rPr lang="en-US" sz="1800" i="1" dirty="0" smtClean="0">
                            <a:latin typeface="Cambria Math"/>
                            <a:cs typeface="Times New Roman" panose="02020603050405020304" pitchFamily="18" charset="0"/>
                          </a:rPr>
                          <m:t>𝑖</m:t>
                        </m:r>
                      </m:sub>
                    </m:sSub>
                    <m:r>
                      <a:rPr lang="en-US" sz="1800" i="1" dirty="0" smtClean="0">
                        <a:latin typeface="Cambria Math"/>
                        <a:cs typeface="Times New Roman" panose="02020603050405020304" pitchFamily="18" charset="0"/>
                      </a:rPr>
                      <m:t>= </m:t>
                    </m:r>
                    <m:sSub>
                      <m:sSubPr>
                        <m:ctrlPr>
                          <a:rPr lang="en-US" sz="1800" i="1" dirty="0" smtClean="0">
                            <a:latin typeface="Cambria Math"/>
                            <a:cs typeface="Times New Roman" panose="02020603050405020304" pitchFamily="18" charset="0"/>
                          </a:rPr>
                        </m:ctrlPr>
                      </m:sSubPr>
                      <m:e>
                        <m:r>
                          <a:rPr lang="en-US" sz="1800" i="1" dirty="0">
                            <a:latin typeface="Cambria Math"/>
                            <a:cs typeface="Times New Roman" panose="02020603050405020304" pitchFamily="18" charset="0"/>
                          </a:rPr>
                          <m:t>𝐸</m:t>
                        </m:r>
                      </m:e>
                      <m:sub>
                        <m:r>
                          <a:rPr lang="en-US" sz="1800" b="0" i="1" dirty="0" smtClean="0">
                            <a:latin typeface="Cambria Math"/>
                            <a:cs typeface="Times New Roman" panose="02020603050405020304" pitchFamily="18" charset="0"/>
                          </a:rPr>
                          <m:t>𝑡𝑜𝑘𝑒𝑛</m:t>
                        </m:r>
                      </m:sub>
                    </m:sSub>
                    <m:sSub>
                      <m:sSubPr>
                        <m:ctrlPr>
                          <a:rPr lang="en-US" sz="1800" i="1" dirty="0" smtClean="0">
                            <a:latin typeface="Cambria Math"/>
                            <a:cs typeface="Times New Roman" panose="02020603050405020304" pitchFamily="18" charset="0"/>
                          </a:rPr>
                        </m:ctrlPr>
                      </m:sSubPr>
                      <m:e>
                        <m:r>
                          <a:rPr lang="en-US" sz="1800" b="0" i="1" dirty="0" smtClean="0">
                            <a:latin typeface="Cambria Math"/>
                            <a:cs typeface="Times New Roman" panose="02020603050405020304" pitchFamily="18" charset="0"/>
                          </a:rPr>
                          <m:t>(</m:t>
                        </m:r>
                        <m:r>
                          <a:rPr lang="en-US" sz="1800" b="0" i="1" dirty="0" smtClean="0">
                            <a:latin typeface="Cambria Math"/>
                            <a:cs typeface="Times New Roman" panose="02020603050405020304" pitchFamily="18" charset="0"/>
                          </a:rPr>
                          <m:t>𝑥</m:t>
                        </m:r>
                      </m:e>
                      <m:sub>
                        <m:r>
                          <a:rPr lang="en-US" sz="1800" b="0" i="1" dirty="0" smtClean="0">
                            <a:latin typeface="Cambria Math"/>
                            <a:cs typeface="Times New Roman" panose="02020603050405020304" pitchFamily="18" charset="0"/>
                          </a:rPr>
                          <m:t>𝑖</m:t>
                        </m:r>
                      </m:sub>
                    </m:sSub>
                    <m:r>
                      <a:rPr lang="en-US" sz="1800" b="0" i="1" dirty="0" smtClean="0">
                        <a:latin typeface="Cambria Math"/>
                        <a:cs typeface="Times New Roman" panose="02020603050405020304" pitchFamily="18" charset="0"/>
                      </a:rPr>
                      <m:t>)</m:t>
                    </m:r>
                    <m:r>
                      <a:rPr lang="en-US" sz="1800" i="1" dirty="0" smtClean="0">
                        <a:latin typeface="Cambria Math"/>
                        <a:cs typeface="Times New Roman" panose="02020603050405020304" pitchFamily="18" charset="0"/>
                      </a:rPr>
                      <m:t>+ </m:t>
                    </m:r>
                    <m:sSub>
                      <m:sSubPr>
                        <m:ctrlPr>
                          <a:rPr lang="en-US" sz="1800" i="1" dirty="0" smtClean="0">
                            <a:latin typeface="Cambria Math"/>
                            <a:cs typeface="Times New Roman" panose="02020603050405020304" pitchFamily="18" charset="0"/>
                          </a:rPr>
                        </m:ctrlPr>
                      </m:sSubPr>
                      <m:e>
                        <m:r>
                          <a:rPr lang="en-US" sz="1800" i="1" dirty="0">
                            <a:latin typeface="Cambria Math"/>
                            <a:cs typeface="Times New Roman" panose="02020603050405020304" pitchFamily="18" charset="0"/>
                          </a:rPr>
                          <m:t>𝐸</m:t>
                        </m:r>
                      </m:e>
                      <m:sub>
                        <m:r>
                          <a:rPr lang="en-US" sz="1800" b="0" i="1" dirty="0" smtClean="0">
                            <a:latin typeface="Cambria Math"/>
                            <a:cs typeface="Times New Roman" panose="02020603050405020304" pitchFamily="18" charset="0"/>
                          </a:rPr>
                          <m:t>𝑝𝑜𝑠𝑖𝑡𝑖𝑜𝑛</m:t>
                        </m:r>
                        <m:r>
                          <a:rPr lang="en-US" sz="1800" b="0" i="1" dirty="0" smtClean="0">
                            <a:latin typeface="Cambria Math"/>
                            <a:cs typeface="Times New Roman" panose="02020603050405020304" pitchFamily="18" charset="0"/>
                          </a:rPr>
                          <m:t>  </m:t>
                        </m:r>
                      </m:sub>
                    </m:sSub>
                    <m:d>
                      <m:dPr>
                        <m:ctrlPr>
                          <a:rPr lang="en-US" sz="1800" b="0" i="1" dirty="0" smtClean="0">
                            <a:latin typeface="Cambria Math"/>
                            <a:cs typeface="Times New Roman" panose="02020603050405020304" pitchFamily="18" charset="0"/>
                          </a:rPr>
                        </m:ctrlPr>
                      </m:dPr>
                      <m:e>
                        <m:r>
                          <a:rPr lang="en-US" sz="1800" b="0" i="1" dirty="0" smtClean="0">
                            <a:latin typeface="Cambria Math"/>
                            <a:cs typeface="Times New Roman" panose="02020603050405020304" pitchFamily="18" charset="0"/>
                          </a:rPr>
                          <m:t>𝑖</m:t>
                        </m:r>
                      </m:e>
                    </m:d>
                    <m:r>
                      <a:rPr lang="en-US" sz="1800" i="1" dirty="0" smtClean="0">
                        <a:latin typeface="Cambria Math"/>
                        <a:cs typeface="Times New Roman" panose="02020603050405020304" pitchFamily="18" charset="0"/>
                      </a:rPr>
                      <m:t>+ </m:t>
                    </m:r>
                    <m:sSub>
                      <m:sSubPr>
                        <m:ctrlPr>
                          <a:rPr lang="en-US" sz="1800" i="1" dirty="0" smtClean="0">
                            <a:latin typeface="Cambria Math"/>
                            <a:cs typeface="Times New Roman" panose="02020603050405020304" pitchFamily="18" charset="0"/>
                          </a:rPr>
                        </m:ctrlPr>
                      </m:sSubPr>
                      <m:e>
                        <m:r>
                          <a:rPr lang="en-US" sz="1800" i="1" dirty="0">
                            <a:latin typeface="Cambria Math"/>
                            <a:cs typeface="Times New Roman" panose="02020603050405020304" pitchFamily="18" charset="0"/>
                          </a:rPr>
                          <m:t>𝐸</m:t>
                        </m:r>
                      </m:e>
                      <m:sub>
                        <m:r>
                          <a:rPr lang="en-US" sz="1800" b="0" i="1" dirty="0" smtClean="0">
                            <a:latin typeface="Cambria Math"/>
                            <a:cs typeface="Times New Roman" panose="02020603050405020304" pitchFamily="18" charset="0"/>
                          </a:rPr>
                          <m:t>𝑠𝑒𝑔𝑚𝑒𝑛𝑡</m:t>
                        </m:r>
                      </m:sub>
                    </m:sSub>
                  </m:oMath>
                </a14:m>
                <a:r>
                  <a:rPr lang="en-US" sz="1800" dirty="0">
                    <a:latin typeface="Times New Roman" panose="02020603050405020304" pitchFamily="18" charset="0"/>
                    <a:cs typeface="Times New Roman" panose="02020603050405020304" pitchFamily="18" charset="0"/>
                  </a:rPr>
                  <a:t> (i)</a:t>
                </a:r>
              </a:p>
              <a:p>
                <a:pPr marL="0" indent="0" algn="just">
                  <a:buNone/>
                </a:pPr>
                <a:r>
                  <a:rPr lang="en-US" sz="1800" b="1" dirty="0">
                    <a:latin typeface="Times New Roman" panose="02020603050405020304" pitchFamily="18" charset="0"/>
                    <a:cs typeface="Times New Roman" panose="02020603050405020304" pitchFamily="18" charset="0"/>
                  </a:rPr>
                  <a:t>Step 3:    </a:t>
                </a:r>
                <a:r>
                  <a:rPr lang="en-US" sz="1800" dirty="0">
                    <a:latin typeface="Times New Roman" panose="02020603050405020304" pitchFamily="18" charset="0"/>
                    <a:cs typeface="Times New Roman" panose="02020603050405020304" pitchFamily="18" charset="0"/>
                  </a:rPr>
                  <a:t>The matrix E is passed through 12 successive Transformer layers. In each     	  layer, bidirectional context is established using the self-attention 	   	  mechanism with Query (Q), Key (K), and Value (V) vectors:</a:t>
                </a:r>
              </a:p>
              <a:p>
                <a:pPr marL="0" indent="0" algn="just">
                  <a:buNone/>
                </a:pPr>
                <a:r>
                  <a:rPr lang="en-US" sz="1800" dirty="0">
                    <a:latin typeface="Times New Roman" panose="02020603050405020304" pitchFamily="18" charset="0"/>
                    <a:cs typeface="Times New Roman" panose="02020603050405020304" pitchFamily="18" charset="0"/>
                  </a:rPr>
                  <a:t>	                      Attention(Q,K,V</a:t>
                </a:r>
                <a:r>
                  <a:rPr lang="en-US" sz="1800" dirty="0" smtClean="0">
                    <a:latin typeface="Times New Roman" panose="02020603050405020304" pitchFamily="18" charset="0"/>
                    <a:cs typeface="Times New Roman" panose="02020603050405020304" pitchFamily="18" charset="0"/>
                  </a:rPr>
                  <a:t>) = </a:t>
                </a:r>
                <a:r>
                  <a:rPr lang="en-US" sz="1800" dirty="0" err="1" smtClean="0">
                    <a:latin typeface="Times New Roman" panose="02020603050405020304" pitchFamily="18" charset="0"/>
                    <a:cs typeface="Times New Roman" panose="02020603050405020304" pitchFamily="18" charset="0"/>
                  </a:rPr>
                  <a:t>Softmax</a:t>
                </a:r>
                <a:r>
                  <a:rPr lang="en-US" sz="1800" dirty="0">
                    <a:latin typeface="Times New Roman" panose="02020603050405020304" pitchFamily="18" charset="0"/>
                    <a:cs typeface="Times New Roman" panose="02020603050405020304" pitchFamily="18" charset="0"/>
                  </a:rPr>
                  <a:t>(</a:t>
                </a:r>
                <a14:m>
                  <m:oMath xmlns:m="http://schemas.openxmlformats.org/officeDocument/2006/math">
                    <m:f>
                      <m:fPr>
                        <m:ctrlPr>
                          <a:rPr lang="en-US" sz="1800" i="1" smtClean="0">
                            <a:latin typeface="Cambria Math"/>
                            <a:cs typeface="Times New Roman" panose="02020603050405020304" pitchFamily="18" charset="0"/>
                          </a:rPr>
                        </m:ctrlPr>
                      </m:fPr>
                      <m:num>
                        <m:r>
                          <a:rPr lang="en-US" sz="1800" b="0" i="1" smtClean="0">
                            <a:latin typeface="Cambria Math"/>
                            <a:cs typeface="Times New Roman" panose="02020603050405020304" pitchFamily="18" charset="0"/>
                          </a:rPr>
                          <m:t>𝑄</m:t>
                        </m:r>
                        <m:sSup>
                          <m:sSupPr>
                            <m:ctrlPr>
                              <a:rPr lang="en-US" sz="1800" b="0" i="1" smtClean="0">
                                <a:latin typeface="Cambria Math"/>
                                <a:cs typeface="Times New Roman" panose="02020603050405020304" pitchFamily="18" charset="0"/>
                              </a:rPr>
                            </m:ctrlPr>
                          </m:sSupPr>
                          <m:e>
                            <m:r>
                              <a:rPr lang="en-US" sz="1800" b="0" i="1" smtClean="0">
                                <a:latin typeface="Cambria Math"/>
                                <a:cs typeface="Times New Roman" panose="02020603050405020304" pitchFamily="18" charset="0"/>
                              </a:rPr>
                              <m:t>𝐾</m:t>
                            </m:r>
                          </m:e>
                          <m:sup>
                            <m:r>
                              <a:rPr lang="en-US" sz="1800" b="0" i="1" smtClean="0">
                                <a:latin typeface="Cambria Math"/>
                                <a:cs typeface="Times New Roman" panose="02020603050405020304" pitchFamily="18" charset="0"/>
                              </a:rPr>
                              <m:t>𝑇</m:t>
                            </m:r>
                          </m:sup>
                        </m:sSup>
                      </m:num>
                      <m:den>
                        <m:rad>
                          <m:radPr>
                            <m:degHide m:val="on"/>
                            <m:ctrlPr>
                              <a:rPr lang="en-US" sz="1800" i="1" smtClean="0">
                                <a:latin typeface="Cambria Math"/>
                                <a:cs typeface="Times New Roman" panose="02020603050405020304" pitchFamily="18" charset="0"/>
                              </a:rPr>
                            </m:ctrlPr>
                          </m:radPr>
                          <m:deg/>
                          <m:e>
                            <m:sSub>
                              <m:sSubPr>
                                <m:ctrlPr>
                                  <a:rPr lang="en-US" sz="1800" i="1" smtClean="0">
                                    <a:latin typeface="Cambria Math"/>
                                    <a:cs typeface="Times New Roman" panose="02020603050405020304" pitchFamily="18" charset="0"/>
                                  </a:rPr>
                                </m:ctrlPr>
                              </m:sSubPr>
                              <m:e>
                                <m:r>
                                  <a:rPr lang="en-US" sz="1800" b="0" i="1" smtClean="0">
                                    <a:latin typeface="Cambria Math"/>
                                    <a:cs typeface="Times New Roman" panose="02020603050405020304" pitchFamily="18" charset="0"/>
                                  </a:rPr>
                                  <m:t>𝑑</m:t>
                                </m:r>
                              </m:e>
                              <m:sub>
                                <m:r>
                                  <a:rPr lang="en-US" sz="1800" b="0" i="1" smtClean="0">
                                    <a:latin typeface="Cambria Math"/>
                                    <a:cs typeface="Times New Roman" panose="02020603050405020304" pitchFamily="18" charset="0"/>
                                  </a:rPr>
                                  <m:t>𝑘</m:t>
                                </m:r>
                              </m:sub>
                            </m:sSub>
                          </m:e>
                        </m:rad>
                      </m:den>
                    </m:f>
                  </m:oMath>
                </a14:m>
                <a:r>
                  <a:rPr lang="en-US" sz="1800" dirty="0">
                    <a:latin typeface="Times New Roman" panose="02020603050405020304" pitchFamily="18" charset="0"/>
                    <a:cs typeface="Times New Roman" panose="02020603050405020304" pitchFamily="18" charset="0"/>
                  </a:rPr>
                  <a:t>)V</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685800" y="1143000"/>
                <a:ext cx="8001000" cy="4419601"/>
              </a:xfrm>
              <a:blipFill rotWithShape="1">
                <a:blip r:embed="rId2"/>
                <a:stretch>
                  <a:fillRect l="-686" t="-690" r="-610" b="-4414"/>
                </a:stretch>
              </a:blipFill>
            </p:spPr>
            <p:txBody>
              <a:bodyPr/>
              <a:lstStyle/>
              <a:p>
                <a:r>
                  <a:rPr lang="en-US">
                    <a:noFill/>
                  </a:rPr>
                  <a:t> </a:t>
                </a:r>
              </a:p>
            </p:txBody>
          </p:sp>
        </mc:Fallback>
      </mc:AlternateContent>
    </p:spTree>
    <p:extLst>
      <p:ext uri="{BB962C8B-B14F-4D97-AF65-F5344CB8AC3E}">
        <p14:creationId xmlns:p14="http://schemas.microsoft.com/office/powerpoint/2010/main" val="2880935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990600"/>
                <a:ext cx="8229600" cy="5135563"/>
              </a:xfrm>
            </p:spPr>
            <p:txBody>
              <a:bodyPr>
                <a:normAutofit/>
              </a:bodyPr>
              <a:lstStyle/>
              <a:p>
                <a:endParaRPr lang="en-US" sz="1800" dirty="0">
                  <a:latin typeface="Times New Roman" pitchFamily="18" charset="0"/>
                  <a:cs typeface="Times New Roman" pitchFamily="18" charset="0"/>
                </a:endParaRPr>
              </a:p>
              <a:p>
                <a:r>
                  <a:rPr lang="en-US" sz="1800" b="1" dirty="0">
                    <a:latin typeface="Times New Roman" panose="02020603050405020304" pitchFamily="18" charset="0"/>
                    <a:cs typeface="Times New Roman" panose="02020603050405020304" pitchFamily="18" charset="0"/>
                  </a:rPr>
                  <a:t>Step 4: </a:t>
                </a:r>
                <a:r>
                  <a:rPr lang="en-US" sz="1800" dirty="0">
                    <a:latin typeface="Times New Roman" panose="02020603050405020304" pitchFamily="18" charset="0"/>
                    <a:cs typeface="Times New Roman" panose="02020603050405020304" pitchFamily="18" charset="0"/>
                  </a:rPr>
                  <a:t>After the final Transformer layer, the model extracts the specific hidden   	   state vector </a:t>
                </a:r>
                <a14:m>
                  <m:oMath xmlns:m="http://schemas.openxmlformats.org/officeDocument/2006/math">
                    <m:sSub>
                      <m:sSubPr>
                        <m:ctrlPr>
                          <a:rPr lang="en-US" sz="1800" i="1" dirty="0">
                            <a:latin typeface="Cambria Math"/>
                            <a:cs typeface="Times New Roman" panose="02020603050405020304" pitchFamily="18" charset="0"/>
                          </a:rPr>
                        </m:ctrlPr>
                      </m:sSubPr>
                      <m:e>
                        <m:r>
                          <a:rPr lang="en-US" sz="1800" i="1" dirty="0">
                            <a:latin typeface="Cambria Math"/>
                            <a:cs typeface="Times New Roman" panose="02020603050405020304" pitchFamily="18" charset="0"/>
                          </a:rPr>
                          <m:t>h</m:t>
                        </m:r>
                      </m:e>
                      <m:sub>
                        <m:d>
                          <m:dPr>
                            <m:begChr m:val="{"/>
                            <m:endChr m:val="}"/>
                            <m:ctrlPr>
                              <a:rPr lang="en-US" sz="1800" i="1" dirty="0">
                                <a:latin typeface="Cambria Math"/>
                                <a:cs typeface="Times New Roman" panose="02020603050405020304" pitchFamily="18" charset="0"/>
                              </a:rPr>
                            </m:ctrlPr>
                          </m:dPr>
                          <m:e>
                            <m:d>
                              <m:dPr>
                                <m:begChr m:val="["/>
                                <m:endChr m:val="]"/>
                                <m:ctrlPr>
                                  <a:rPr lang="en-US" sz="1800" i="1" dirty="0">
                                    <a:latin typeface="Cambria Math"/>
                                    <a:cs typeface="Times New Roman" panose="02020603050405020304" pitchFamily="18" charset="0"/>
                                  </a:rPr>
                                </m:ctrlPr>
                              </m:dPr>
                              <m:e>
                                <m:r>
                                  <a:rPr lang="en-US" sz="1800" i="1" dirty="0">
                                    <a:latin typeface="Cambria Math"/>
                                    <a:cs typeface="Times New Roman" panose="02020603050405020304" pitchFamily="18" charset="0"/>
                                  </a:rPr>
                                  <m:t>𝐶𝐿𝑆</m:t>
                                </m:r>
                              </m:e>
                            </m:d>
                          </m:e>
                        </m:d>
                      </m:sub>
                    </m:sSub>
                  </m:oMath>
                </a14:m>
                <a:r>
                  <a:rPr lang="en-US" sz="1800" dirty="0">
                    <a:latin typeface="Times New Roman" panose="02020603050405020304" pitchFamily="18" charset="0"/>
                    <a:cs typeface="Times New Roman" panose="02020603050405020304" pitchFamily="18" charset="0"/>
                  </a:rPr>
                  <a:t>corresponding to the first token ([CLS]), which 	  	   represents the aggregate features of the entire article:</a:t>
                </a:r>
              </a:p>
              <a:p>
                <a:pPr marL="0" indent="0">
                  <a:buNone/>
                </a:pPr>
                <a:r>
                  <a:rPr lang="en-US" sz="18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1800" i="1" smtClean="0">
                            <a:latin typeface="Cambria Math"/>
                            <a:cs typeface="Times New Roman" panose="02020603050405020304" pitchFamily="18" charset="0"/>
                          </a:rPr>
                        </m:ctrlPr>
                      </m:sSubPr>
                      <m:e>
                        <m:r>
                          <m:rPr>
                            <m:sty m:val="p"/>
                          </m:rPr>
                          <a:rPr lang="en-IN" sz="1800" b="0" i="1" smtClean="0">
                            <a:latin typeface="Cambria Math" panose="02040503050406030204" pitchFamily="18" charset="0"/>
                            <a:cs typeface="Times New Roman" panose="02020603050405020304" pitchFamily="18" charset="0"/>
                          </a:rPr>
                          <m:t>h</m:t>
                        </m:r>
                      </m:e>
                      <m:sub>
                        <m:r>
                          <a:rPr lang="en-IN" sz="1800" b="0" i="1" smtClean="0">
                            <a:latin typeface="Cambria Math" panose="02040503050406030204" pitchFamily="18" charset="0"/>
                            <a:cs typeface="Times New Roman" panose="02020603050405020304" pitchFamily="18" charset="0"/>
                          </a:rPr>
                          <m:t>[</m:t>
                        </m:r>
                        <m:r>
                          <m:rPr>
                            <m:sty m:val="p"/>
                          </m:rPr>
                          <a:rPr lang="en-IN" sz="1800" b="0" i="1" smtClean="0">
                            <a:latin typeface="Cambria Math" panose="02040503050406030204" pitchFamily="18" charset="0"/>
                            <a:cs typeface="Times New Roman" panose="02020603050405020304" pitchFamily="18" charset="0"/>
                          </a:rPr>
                          <m:t>CLS</m:t>
                        </m:r>
                        <m:r>
                          <a:rPr lang="en-IN" sz="1800" b="0" i="1" smtClean="0">
                            <a:latin typeface="Cambria Math" panose="02040503050406030204" pitchFamily="18" charset="0"/>
                            <a:cs typeface="Times New Roman" panose="02020603050405020304" pitchFamily="18" charset="0"/>
                          </a:rPr>
                          <m:t>]</m:t>
                        </m:r>
                      </m:sub>
                    </m:sSub>
                    <m:r>
                      <a:rPr lang="en-IN" sz="1800" b="0" i="1" smtClean="0">
                        <a:latin typeface="Cambria Math" panose="02040503050406030204" pitchFamily="18" charset="0"/>
                        <a:cs typeface="Times New Roman" panose="02020603050405020304" pitchFamily="18" charset="0"/>
                      </a:rPr>
                      <m:t>=</m:t>
                    </m:r>
                    <m:sSubSup>
                      <m:sSubSupPr>
                        <m:ctrlPr>
                          <a:rPr lang="en-IN" sz="1800" b="0" i="1" smtClean="0">
                            <a:latin typeface="Cambria Math"/>
                            <a:cs typeface="Times New Roman" panose="02020603050405020304" pitchFamily="18" charset="0"/>
                          </a:rPr>
                        </m:ctrlPr>
                      </m:sSubSupPr>
                      <m:e>
                        <m:r>
                          <m:rPr>
                            <m:sty m:val="p"/>
                          </m:rPr>
                          <a:rPr lang="en-IN" sz="1800" b="0" i="1" smtClean="0">
                            <a:latin typeface="Cambria Math" panose="02040503050406030204" pitchFamily="18" charset="0"/>
                            <a:cs typeface="Times New Roman" panose="02020603050405020304" pitchFamily="18" charset="0"/>
                          </a:rPr>
                          <m:t>H</m:t>
                        </m:r>
                      </m:e>
                      <m:sub>
                        <m:r>
                          <a:rPr lang="en-IN" sz="1800" b="0" i="1" smtClean="0">
                            <a:latin typeface="Cambria Math" panose="02040503050406030204" pitchFamily="18" charset="0"/>
                            <a:cs typeface="Times New Roman" panose="02020603050405020304" pitchFamily="18" charset="0"/>
                          </a:rPr>
                          <m:t>0</m:t>
                        </m:r>
                      </m:sub>
                      <m:sup>
                        <m:r>
                          <a:rPr lang="en-IN" sz="1800" b="0" i="1" smtClean="0">
                            <a:latin typeface="Cambria Math" panose="02040503050406030204" pitchFamily="18" charset="0"/>
                            <a:cs typeface="Times New Roman" panose="02020603050405020304" pitchFamily="18" charset="0"/>
                          </a:rPr>
                          <m:t>(</m:t>
                        </m:r>
                        <m:r>
                          <a:rPr lang="en-IN" sz="1800" b="0" i="1" smtClean="0">
                            <a:latin typeface="Cambria Math" panose="02040503050406030204" pitchFamily="18" charset="0"/>
                            <a:cs typeface="Times New Roman" panose="02020603050405020304" pitchFamily="18" charset="0"/>
                          </a:rPr>
                          <m:t>12</m:t>
                        </m:r>
                        <m:r>
                          <a:rPr lang="en-IN" sz="1800" b="0" i="1" smtClean="0">
                            <a:latin typeface="Cambria Math" panose="02040503050406030204" pitchFamily="18" charset="0"/>
                            <a:cs typeface="Times New Roman" panose="02020603050405020304" pitchFamily="18" charset="0"/>
                          </a:rPr>
                          <m:t>)</m:t>
                        </m:r>
                      </m:sup>
                    </m:sSubSup>
                  </m:oMath>
                </a14:m>
                <a:endParaRPr lang="en-US" sz="1800" dirty="0">
                  <a:latin typeface="Times New Roman" panose="02020603050405020304" pitchFamily="18" charset="0"/>
                  <a:cs typeface="Times New Roman" panose="02020603050405020304" pitchFamily="18" charset="0"/>
                </a:endParaRPr>
              </a:p>
              <a:p>
                <a:r>
                  <a:rPr lang="en-US" sz="1800" b="1" dirty="0">
                    <a:latin typeface="Times New Roman" pitchFamily="18" charset="0"/>
                    <a:cs typeface="Times New Roman" pitchFamily="18" charset="0"/>
                  </a:rPr>
                  <a:t>Step 5:</a:t>
                </a:r>
                <a:r>
                  <a:rPr lang="en-US" sz="1800" dirty="0">
                    <a:latin typeface="Times New Roman" pitchFamily="18" charset="0"/>
                    <a:cs typeface="Times New Roman" pitchFamily="18" charset="0"/>
                  </a:rPr>
                  <a:t> This vector is mapped to a classification space using a weight matrix W and 	   bias b. The result is passed through a </a:t>
                </a:r>
                <a:r>
                  <a:rPr lang="en-US" sz="1800" dirty="0" err="1">
                    <a:latin typeface="Times New Roman" pitchFamily="18" charset="0"/>
                    <a:cs typeface="Times New Roman" pitchFamily="18" charset="0"/>
                  </a:rPr>
                  <a:t>Softmax</a:t>
                </a:r>
                <a:r>
                  <a:rPr lang="en-US" sz="1800" dirty="0">
                    <a:latin typeface="Times New Roman" pitchFamily="18" charset="0"/>
                    <a:cs typeface="Times New Roman" pitchFamily="18" charset="0"/>
                  </a:rPr>
                  <a:t> function to compute the   	   probability distribution \hat{P} for the classes:</a:t>
                </a:r>
              </a:p>
              <a:p>
                <a:pPr marL="0" indent="0">
                  <a:buNone/>
                </a:pPr>
                <a:r>
                  <a:rPr lang="en-US" sz="1800" dirty="0">
                    <a:latin typeface="Times New Roman" pitchFamily="18" charset="0"/>
                    <a:cs typeface="Times New Roman" pitchFamily="18" charset="0"/>
                  </a:rPr>
                  <a:t>                                          </a:t>
                </a:r>
                <a14:m>
                  <m:oMath xmlns:m="http://schemas.openxmlformats.org/officeDocument/2006/math">
                    <m:acc>
                      <m:accPr>
                        <m:chr m:val="̂"/>
                        <m:ctrlPr>
                          <a:rPr lang="en-US" sz="1800" i="1" smtClean="0">
                            <a:latin typeface="Cambria Math"/>
                            <a:cs typeface="Times New Roman" pitchFamily="18" charset="0"/>
                          </a:rPr>
                        </m:ctrlPr>
                      </m:accPr>
                      <m:e>
                        <m:r>
                          <m:rPr>
                            <m:sty m:val="p"/>
                          </m:rPr>
                          <a:rPr lang="en-IN" sz="1800" b="0" i="1" smtClean="0">
                            <a:latin typeface="Cambria Math" panose="02040503050406030204" pitchFamily="18" charset="0"/>
                            <a:cs typeface="Times New Roman" pitchFamily="18" charset="0"/>
                          </a:rPr>
                          <m:t>P</m:t>
                        </m:r>
                      </m:e>
                    </m:acc>
                    <m:r>
                      <a:rPr lang="en-IN" sz="1800" b="0" i="1" smtClean="0">
                        <a:latin typeface="Cambria Math" panose="02040503050406030204" pitchFamily="18" charset="0"/>
                        <a:cs typeface="Times New Roman" pitchFamily="18" charset="0"/>
                      </a:rPr>
                      <m:t>=</m:t>
                    </m:r>
                    <m:r>
                      <m:rPr>
                        <m:sty m:val="p"/>
                      </m:rPr>
                      <a:rPr lang="en-IN" sz="1800" b="0" i="1" smtClean="0">
                        <a:latin typeface="Cambria Math" panose="02040503050406030204" pitchFamily="18" charset="0"/>
                        <a:cs typeface="Times New Roman" pitchFamily="18" charset="0"/>
                      </a:rPr>
                      <m:t>Softmax</m:t>
                    </m:r>
                    <m:r>
                      <a:rPr lang="en-IN" sz="1800" b="0" i="1" smtClean="0">
                        <a:latin typeface="Cambria Math" panose="02040503050406030204" pitchFamily="18" charset="0"/>
                        <a:cs typeface="Times New Roman" pitchFamily="18" charset="0"/>
                      </a:rPr>
                      <m:t>(</m:t>
                    </m:r>
                    <m:r>
                      <a:rPr lang="en-IN" sz="1800" b="0" i="1" smtClean="0">
                        <a:latin typeface="Cambria Math" panose="02040503050406030204" pitchFamily="18" charset="0"/>
                        <a:cs typeface="Times New Roman" pitchFamily="18" charset="0"/>
                      </a:rPr>
                      <m:t>𝑊</m:t>
                    </m:r>
                    <m:r>
                      <a:rPr lang="en-IN" sz="1800" b="0" i="1" smtClean="0">
                        <a:latin typeface="Cambria Math" panose="02040503050406030204" pitchFamily="18" charset="0"/>
                        <a:cs typeface="Times New Roman" pitchFamily="18" charset="0"/>
                      </a:rPr>
                      <m:t>.</m:t>
                    </m:r>
                    <m:sSub>
                      <m:sSubPr>
                        <m:ctrlPr>
                          <a:rPr lang="en-IN" sz="1800" b="0" i="1" smtClean="0">
                            <a:latin typeface="Cambria Math"/>
                            <a:cs typeface="Times New Roman" pitchFamily="18" charset="0"/>
                          </a:rPr>
                        </m:ctrlPr>
                      </m:sSubPr>
                      <m:e>
                        <m:r>
                          <a:rPr lang="en-IN" sz="1800" b="0" i="1" smtClean="0">
                            <a:latin typeface="Cambria Math" panose="02040503050406030204" pitchFamily="18" charset="0"/>
                            <a:cs typeface="Times New Roman" pitchFamily="18" charset="0"/>
                          </a:rPr>
                          <m:t>h</m:t>
                        </m:r>
                      </m:e>
                      <m:sub>
                        <m:r>
                          <a:rPr lang="en-IN" sz="1800" b="0" i="1" smtClean="0">
                            <a:latin typeface="Cambria Math" panose="02040503050406030204" pitchFamily="18" charset="0"/>
                            <a:cs typeface="Times New Roman" pitchFamily="18" charset="0"/>
                          </a:rPr>
                          <m:t>[</m:t>
                        </m:r>
                        <m:r>
                          <a:rPr lang="en-IN" sz="1800" b="0" i="1" smtClean="0">
                            <a:latin typeface="Cambria Math" panose="02040503050406030204" pitchFamily="18" charset="0"/>
                            <a:cs typeface="Times New Roman" pitchFamily="18" charset="0"/>
                          </a:rPr>
                          <m:t>𝐶𝐿𝑆</m:t>
                        </m:r>
                        <m:r>
                          <a:rPr lang="en-IN" sz="1800" b="0" i="1" smtClean="0">
                            <a:latin typeface="Cambria Math" panose="02040503050406030204" pitchFamily="18" charset="0"/>
                            <a:cs typeface="Times New Roman" pitchFamily="18" charset="0"/>
                          </a:rPr>
                          <m:t>]</m:t>
                        </m:r>
                      </m:sub>
                    </m:sSub>
                    <m:r>
                      <a:rPr lang="en-IN" sz="1800" b="0" i="1" smtClean="0">
                        <a:latin typeface="Cambria Math" panose="02040503050406030204" pitchFamily="18" charset="0"/>
                        <a:cs typeface="Times New Roman" pitchFamily="18" charset="0"/>
                      </a:rPr>
                      <m:t>+</m:t>
                    </m:r>
                    <m:r>
                      <m:rPr>
                        <m:sty m:val="p"/>
                      </m:rPr>
                      <a:rPr lang="en-IN" sz="1800" b="0" i="1" smtClean="0">
                        <a:latin typeface="Cambria Math" panose="02040503050406030204" pitchFamily="18" charset="0"/>
                        <a:cs typeface="Times New Roman" pitchFamily="18" charset="0"/>
                      </a:rPr>
                      <m:t>b</m:t>
                    </m:r>
                    <m:r>
                      <a:rPr lang="en-IN" sz="1800" b="0" i="1" smtClean="0">
                        <a:latin typeface="Cambria Math" panose="02040503050406030204" pitchFamily="18" charset="0"/>
                        <a:cs typeface="Times New Roman" pitchFamily="18" charset="0"/>
                      </a:rPr>
                      <m:t>)</m:t>
                    </m:r>
                  </m:oMath>
                </a14:m>
                <a:endParaRPr lang="en-US" sz="1800"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990600"/>
                <a:ext cx="8229600" cy="5135563"/>
              </a:xfrm>
              <a:blipFill>
                <a:blip r:embed="rId2"/>
                <a:stretch>
                  <a:fillRect l="-444" r="-963"/>
                </a:stretch>
              </a:blipFill>
            </p:spPr>
            <p:txBody>
              <a:bodyPr/>
              <a:lstStyle/>
              <a:p>
                <a:r>
                  <a:rPr lang="en-IN">
                    <a:noFill/>
                  </a:rPr>
                  <a:t> </a:t>
                </a:r>
              </a:p>
            </p:txBody>
          </p:sp>
        </mc:Fallback>
      </mc:AlternateContent>
      <p:sp>
        <p:nvSpPr>
          <p:cNvPr id="2" name="TextBox 1">
            <a:extLst>
              <a:ext uri="{FF2B5EF4-FFF2-40B4-BE49-F238E27FC236}">
                <a16:creationId xmlns:a16="http://schemas.microsoft.com/office/drawing/2014/main" xmlns="" id="{79C10A87-0A53-9752-BD84-3FB560229D1B}"/>
              </a:ext>
            </a:extLst>
          </p:cNvPr>
          <p:cNvSpPr txBox="1"/>
          <p:nvPr/>
        </p:nvSpPr>
        <p:spPr>
          <a:xfrm>
            <a:off x="4114800" y="2971800"/>
            <a:ext cx="65" cy="276999"/>
          </a:xfrm>
          <a:prstGeom prst="rect">
            <a:avLst/>
          </a:prstGeom>
          <a:noFill/>
        </p:spPr>
        <p:txBody>
          <a:bodyPr wrap="none" lIns="0" tIns="0" rIns="0" bIns="0" rtlCol="0">
            <a:spAutoFit/>
          </a:bodyPr>
          <a:lstStyle/>
          <a:p>
            <a:endParaRPr lang="en-IN" dirty="0"/>
          </a:p>
        </p:txBody>
      </p:sp>
    </p:spTree>
    <p:extLst>
      <p:ext uri="{BB962C8B-B14F-4D97-AF65-F5344CB8AC3E}">
        <p14:creationId xmlns:p14="http://schemas.microsoft.com/office/powerpoint/2010/main" val="80531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3CFE7B4-079F-6FA0-B59C-2E0365625333}"/>
              </a:ext>
            </a:extLst>
          </p:cNvPr>
          <p:cNvSpPr>
            <a:spLocks noGrp="1"/>
          </p:cNvSpPr>
          <p:nvPr>
            <p:ph type="title"/>
          </p:nvPr>
        </p:nvSpPr>
        <p:spPr>
          <a:xfrm>
            <a:off x="457200" y="-381000"/>
            <a:ext cx="8229600" cy="1798638"/>
          </a:xfrm>
        </p:spPr>
        <p:txBody>
          <a:bodyPr>
            <a:normAutofit/>
          </a:bodyPr>
          <a:lstStyle/>
          <a:p>
            <a:r>
              <a:rPr lang="en-IN" sz="3200" b="1" dirty="0">
                <a:latin typeface="Times New Roman" panose="02020603050405020304" pitchFamily="18" charset="0"/>
                <a:cs typeface="Times New Roman" panose="02020603050405020304" pitchFamily="18" charset="0"/>
              </a:rPr>
              <a:t>ALGORITHMS INVOLVED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xmlns="" id="{E25AA249-8C5E-AFF2-DF28-357FFCF41B18}"/>
                  </a:ext>
                </a:extLst>
              </p:cNvPr>
              <p:cNvSpPr>
                <a:spLocks noGrp="1"/>
              </p:cNvSpPr>
              <p:nvPr>
                <p:ph idx="1"/>
              </p:nvPr>
            </p:nvSpPr>
            <p:spPr>
              <a:xfrm>
                <a:off x="685800" y="1295400"/>
                <a:ext cx="7907400" cy="5257800"/>
              </a:xfrm>
            </p:spPr>
            <p:txBody>
              <a:bodyPr>
                <a:noAutofit/>
              </a:bodyPr>
              <a:lstStyle/>
              <a:p>
                <a:pPr marL="0" indent="0">
                  <a:buNone/>
                </a:pPr>
                <a:r>
                  <a:rPr lang="en-US" sz="1800" b="1" dirty="0">
                    <a:latin typeface="Times New Roman" panose="02020603050405020304" pitchFamily="18" charset="0"/>
                    <a:cs typeface="Times New Roman" panose="02020603050405020304" pitchFamily="18" charset="0"/>
                  </a:rPr>
                  <a:t>Algorithm: </a:t>
                </a:r>
                <a:r>
                  <a:rPr lang="en-US" sz="1800" dirty="0" err="1" smtClean="0">
                    <a:latin typeface="Times New Roman" panose="02020603050405020304" pitchFamily="18" charset="0"/>
                    <a:cs typeface="Times New Roman" panose="02020603050405020304" pitchFamily="18" charset="0"/>
                  </a:rPr>
                  <a:t>DistilBERT</a:t>
                </a: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based Fake News Detection</a:t>
                </a:r>
              </a:p>
              <a:p>
                <a:pPr marL="0" indent="0">
                  <a:buNone/>
                </a:pPr>
                <a:r>
                  <a:rPr lang="en-US" sz="1800" b="1" dirty="0">
                    <a:latin typeface="Times New Roman" panose="02020603050405020304" pitchFamily="18" charset="0"/>
                    <a:cs typeface="Times New Roman" panose="02020603050405020304" pitchFamily="18" charset="0"/>
                  </a:rPr>
                  <a:t>Input: </a:t>
                </a:r>
                <a:r>
                  <a:rPr lang="en-US" sz="1800" dirty="0">
                    <a:latin typeface="Times New Roman" panose="02020603050405020304" pitchFamily="18" charset="0"/>
                    <a:cs typeface="Times New Roman" panose="02020603050405020304" pitchFamily="18" charset="0"/>
                  </a:rPr>
                  <a:t>Raw news text sequence </a:t>
                </a:r>
                <a:r>
                  <a:rPr lang="en-US" sz="1800" b="1" dirty="0">
                    <a:latin typeface="Times New Roman" panose="02020603050405020304" pitchFamily="18" charset="0"/>
                    <a:cs typeface="Times New Roman" panose="02020603050405020304" pitchFamily="18" charset="0"/>
                  </a:rPr>
                  <a:t>S.</a:t>
                </a:r>
                <a:endParaRPr lang="en-IN"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Output:</a:t>
                </a:r>
                <a:r>
                  <a:rPr lang="en-IN" sz="1800" dirty="0">
                    <a:latin typeface="Times New Roman" panose="02020603050405020304" pitchFamily="18" charset="0"/>
                    <a:cs typeface="Times New Roman" panose="02020603050405020304" pitchFamily="18" charset="0"/>
                  </a:rPr>
                  <a:t> Predicted class label </a:t>
                </a:r>
                <a14:m>
                  <m:oMath xmlns:m="http://schemas.openxmlformats.org/officeDocument/2006/math">
                    <m:r>
                      <a:rPr lang="en-IN" sz="1800" i="1">
                        <a:latin typeface="Cambria Math" panose="02040503050406030204" pitchFamily="18" charset="0"/>
                      </a:rPr>
                      <m:t>𝑦</m:t>
                    </m:r>
                    <m:r>
                      <a:rPr lang="en-IN" sz="1800">
                        <a:latin typeface="Cambria Math" panose="02040503050406030204" pitchFamily="18" charset="0"/>
                      </a:rPr>
                      <m:t>∈</m:t>
                    </m:r>
                    <m:d>
                      <m:dPr>
                        <m:begChr m:val="{"/>
                        <m:endChr m:val="}"/>
                        <m:sepChr m:val=","/>
                        <m:ctrlPr>
                          <a:rPr lang="ar-AE" sz="1800" i="1">
                            <a:latin typeface="Cambria Math"/>
                          </a:rPr>
                        </m:ctrlPr>
                      </m:dPr>
                      <m:e>
                        <m:r>
                          <a:rPr lang="ar-AE" sz="1800">
                            <a:latin typeface="Cambria Math" panose="02040503050406030204" pitchFamily="18" charset="0"/>
                          </a:rPr>
                          <m:t>0</m:t>
                        </m:r>
                      </m:e>
                      <m:e>
                        <m:r>
                          <a:rPr lang="ar-AE" sz="1800">
                            <a:latin typeface="Cambria Math" panose="02040503050406030204" pitchFamily="18" charset="0"/>
                          </a:rPr>
                          <m:t>1</m:t>
                        </m:r>
                      </m:e>
                    </m:d>
                  </m:oMath>
                </a14:m>
                <a:r>
                  <a:rPr lang="ar-AE" sz="1800" dirty="0">
                    <a:latin typeface="Times New Roman" panose="02020603050405020304" pitchFamily="18" charset="0"/>
                    <a:cs typeface="Times New Roman" panose="02020603050405020304" pitchFamily="18" charset="0"/>
                  </a:rPr>
                  <a:t>(</a:t>
                </a:r>
                <a:r>
                  <a:rPr lang="en-IN" sz="1800" dirty="0">
                    <a:latin typeface="Times New Roman" panose="02020603050405020304" pitchFamily="18" charset="0"/>
                    <a:cs typeface="Times New Roman" panose="02020603050405020304" pitchFamily="18" charset="0"/>
                  </a:rPr>
                  <a:t>Real/Fake).</a:t>
                </a:r>
              </a:p>
              <a:p>
                <a:pPr marL="0" indent="0" algn="just">
                  <a:buNone/>
                </a:pPr>
                <a:r>
                  <a:rPr lang="en-US" sz="1800" b="1" dirty="0">
                    <a:latin typeface="Times New Roman" panose="02020603050405020304" pitchFamily="18" charset="0"/>
                    <a:cs typeface="Times New Roman" panose="02020603050405020304" pitchFamily="18" charset="0"/>
                  </a:rPr>
                  <a:t>Step 1: </a:t>
                </a:r>
                <a:r>
                  <a:rPr lang="en-US" sz="1800" dirty="0">
                    <a:latin typeface="Times New Roman" panose="02020603050405020304" pitchFamily="18" charset="0"/>
                    <a:cs typeface="Times New Roman" panose="02020603050405020304" pitchFamily="18" charset="0"/>
                  </a:rPr>
                  <a:t>The raw news text </a:t>
                </a:r>
                <a14:m>
                  <m:oMath xmlns:m="http://schemas.openxmlformats.org/officeDocument/2006/math">
                    <m:r>
                      <a:rPr lang="en-US" sz="2000" i="1">
                        <a:latin typeface="Cambria Math" panose="02040503050406030204" pitchFamily="18" charset="0"/>
                      </a:rPr>
                      <m:t>𝑆</m:t>
                    </m:r>
                    <m:r>
                      <a:rPr lang="en-IN" sz="2000" b="0" i="1" smtClean="0">
                        <a:latin typeface="Cambria Math" panose="02040503050406030204" pitchFamily="18" charset="0"/>
                      </a:rPr>
                      <m:t> </m:t>
                    </m:r>
                  </m:oMath>
                </a14:m>
                <a:r>
                  <a:rPr lang="en-US" sz="1800" dirty="0">
                    <a:latin typeface="Times New Roman" panose="02020603050405020304" pitchFamily="18" charset="0"/>
                    <a:cs typeface="Times New Roman" panose="02020603050405020304" pitchFamily="18" charset="0"/>
                  </a:rPr>
                  <a:t>is processed into a sequence of tokens using the  	</a:t>
                </a:r>
                <a:r>
                  <a:rPr lang="en-US" sz="1800" dirty="0" smtClean="0">
                    <a:latin typeface="Times New Roman" panose="02020603050405020304" pitchFamily="18" charset="0"/>
                    <a:cs typeface="Times New Roman" panose="02020603050405020304" pitchFamily="18" charset="0"/>
                  </a:rPr>
                  <a:t>Word Piece </a:t>
                </a:r>
                <a:r>
                  <a:rPr lang="en-US" sz="1800" dirty="0">
                    <a:latin typeface="Times New Roman" panose="02020603050405020304" pitchFamily="18" charset="0"/>
                    <a:cs typeface="Times New Roman" panose="02020603050405020304" pitchFamily="18" charset="0"/>
                  </a:rPr>
                  <a:t>tokenizer. To prepare for the transformer layers, specific 	markers are added:	</a:t>
                </a:r>
                <a:endParaRPr lang="en-IN" sz="1800" i="1" dirty="0">
                  <a:latin typeface="Cambria Math"/>
                  <a:cs typeface="Times New Roman" panose="02020603050405020304" pitchFamily="18" charset="0"/>
                </a:endParaRPr>
              </a:p>
              <a:p>
                <a:pPr marL="0" indent="0" algn="just">
                  <a:buNone/>
                </a:pPr>
                <a14:m>
                  <m:oMathPara xmlns:m="http://schemas.openxmlformats.org/officeDocument/2006/math">
                    <m:oMathParaPr>
                      <m:jc m:val="centerGroup"/>
                    </m:oMathParaPr>
                    <m:oMath xmlns:m="http://schemas.openxmlformats.org/officeDocument/2006/math">
                      <m:r>
                        <a:rPr lang="en-US" sz="1800" i="1" dirty="0">
                          <a:latin typeface="Cambria Math"/>
                          <a:cs typeface="Times New Roman" panose="02020603050405020304" pitchFamily="18" charset="0"/>
                        </a:rPr>
                        <m:t>𝑋</m:t>
                      </m:r>
                      <m:r>
                        <a:rPr lang="en-US" sz="1800" i="1" dirty="0">
                          <a:latin typeface="Cambria Math"/>
                          <a:cs typeface="Times New Roman" panose="02020603050405020304" pitchFamily="18" charset="0"/>
                        </a:rPr>
                        <m:t>=</m:t>
                      </m:r>
                      <m:d>
                        <m:dPr>
                          <m:begChr m:val="{"/>
                          <m:endChr m:val="}"/>
                          <m:ctrlPr>
                            <a:rPr lang="en-US" sz="1800" i="1" dirty="0">
                              <a:latin typeface="Cambria Math"/>
                              <a:cs typeface="Times New Roman" panose="02020603050405020304" pitchFamily="18" charset="0"/>
                            </a:rPr>
                          </m:ctrlPr>
                        </m:dPr>
                        <m:e>
                          <m:d>
                            <m:dPr>
                              <m:begChr m:val="["/>
                              <m:endChr m:val="]"/>
                              <m:ctrlPr>
                                <a:rPr lang="en-US" sz="1800" i="1" dirty="0">
                                  <a:latin typeface="Cambria Math"/>
                                  <a:cs typeface="Times New Roman" panose="02020603050405020304" pitchFamily="18" charset="0"/>
                                </a:rPr>
                              </m:ctrlPr>
                            </m:dPr>
                            <m:e>
                              <m:r>
                                <a:rPr lang="en-US" sz="1800" i="1" dirty="0">
                                  <a:latin typeface="Cambria Math"/>
                                  <a:cs typeface="Times New Roman" panose="02020603050405020304" pitchFamily="18" charset="0"/>
                                </a:rPr>
                                <m:t>𝐶𝐿𝑆</m:t>
                              </m:r>
                            </m:e>
                          </m:d>
                          <m:r>
                            <a:rPr lang="en-US" sz="1800" i="1" dirty="0">
                              <a:latin typeface="Cambria Math"/>
                              <a:cs typeface="Times New Roman" panose="02020603050405020304" pitchFamily="18" charset="0"/>
                            </a:rPr>
                            <m:t>,</m:t>
                          </m:r>
                          <m:sSub>
                            <m:sSubPr>
                              <m:ctrlPr>
                                <a:rPr lang="en-US" sz="1800" i="1" dirty="0">
                                  <a:latin typeface="Cambria Math"/>
                                  <a:cs typeface="Times New Roman" panose="02020603050405020304" pitchFamily="18" charset="0"/>
                                </a:rPr>
                              </m:ctrlPr>
                            </m:sSubPr>
                            <m:e>
                              <m:r>
                                <a:rPr lang="en-US" sz="1800" i="1" dirty="0">
                                  <a:latin typeface="Cambria Math"/>
                                  <a:cs typeface="Times New Roman" panose="02020603050405020304" pitchFamily="18" charset="0"/>
                                </a:rPr>
                                <m:t>𝑤</m:t>
                              </m:r>
                            </m:e>
                            <m:sub>
                              <m:r>
                                <a:rPr lang="en-US" sz="1800" i="1" dirty="0">
                                  <a:latin typeface="Cambria Math"/>
                                  <a:cs typeface="Times New Roman" panose="02020603050405020304" pitchFamily="18" charset="0"/>
                                </a:rPr>
                                <m:t>1</m:t>
                              </m:r>
                              <m:r>
                                <a:rPr lang="en-US" sz="1800" i="1" dirty="0">
                                  <a:latin typeface="Cambria Math"/>
                                  <a:cs typeface="Times New Roman" panose="02020603050405020304" pitchFamily="18" charset="0"/>
                                </a:rPr>
                                <m:t>,</m:t>
                              </m:r>
                            </m:sub>
                          </m:sSub>
                          <m:sSub>
                            <m:sSubPr>
                              <m:ctrlPr>
                                <a:rPr lang="en-US" sz="1800" i="1" dirty="0">
                                  <a:latin typeface="Cambria Math"/>
                                  <a:cs typeface="Times New Roman" panose="02020603050405020304" pitchFamily="18" charset="0"/>
                                </a:rPr>
                              </m:ctrlPr>
                            </m:sSubPr>
                            <m:e>
                              <m:r>
                                <a:rPr lang="en-US" sz="1800" i="1" dirty="0">
                                  <a:latin typeface="Cambria Math"/>
                                  <a:cs typeface="Times New Roman" panose="02020603050405020304" pitchFamily="18" charset="0"/>
                                </a:rPr>
                                <m:t>𝑤</m:t>
                              </m:r>
                            </m:e>
                            <m:sub>
                              <m:r>
                                <a:rPr lang="en-US" sz="1800" i="1" dirty="0">
                                  <a:latin typeface="Cambria Math"/>
                                  <a:cs typeface="Times New Roman" panose="02020603050405020304" pitchFamily="18" charset="0"/>
                                </a:rPr>
                                <m:t>2</m:t>
                              </m:r>
                              <m:r>
                                <a:rPr lang="en-US" sz="1800" i="1" dirty="0">
                                  <a:latin typeface="Cambria Math"/>
                                  <a:cs typeface="Times New Roman" panose="02020603050405020304" pitchFamily="18" charset="0"/>
                                </a:rPr>
                                <m:t>,</m:t>
                              </m:r>
                            </m:sub>
                          </m:sSub>
                          <m:r>
                            <a:rPr lang="en-US" sz="1800" i="1" dirty="0">
                              <a:latin typeface="Cambria Math"/>
                              <a:cs typeface="Times New Roman" panose="02020603050405020304" pitchFamily="18" charset="0"/>
                            </a:rPr>
                            <m:t>…,</m:t>
                          </m:r>
                          <m:sSub>
                            <m:sSubPr>
                              <m:ctrlPr>
                                <a:rPr lang="en-US" sz="1800" i="1" dirty="0">
                                  <a:latin typeface="Cambria Math"/>
                                  <a:cs typeface="Times New Roman" panose="02020603050405020304" pitchFamily="18" charset="0"/>
                                </a:rPr>
                              </m:ctrlPr>
                            </m:sSubPr>
                            <m:e>
                              <m:r>
                                <a:rPr lang="en-US" sz="1800" i="1" dirty="0">
                                  <a:latin typeface="Cambria Math"/>
                                  <a:cs typeface="Times New Roman" panose="02020603050405020304" pitchFamily="18" charset="0"/>
                                </a:rPr>
                                <m:t>𝑤</m:t>
                              </m:r>
                            </m:e>
                            <m:sub>
                              <m:r>
                                <a:rPr lang="en-US" sz="1800" i="1" dirty="0">
                                  <a:latin typeface="Cambria Math"/>
                                  <a:cs typeface="Times New Roman" panose="02020603050405020304" pitchFamily="18" charset="0"/>
                                </a:rPr>
                                <m:t>𝑛</m:t>
                              </m:r>
                              <m:r>
                                <a:rPr lang="en-US" sz="1800" i="1" dirty="0">
                                  <a:latin typeface="Cambria Math"/>
                                  <a:cs typeface="Times New Roman" panose="02020603050405020304" pitchFamily="18" charset="0"/>
                                </a:rPr>
                                <m:t>,</m:t>
                              </m:r>
                            </m:sub>
                          </m:sSub>
                          <m:r>
                            <a:rPr lang="en-US" sz="1800" i="1" dirty="0">
                              <a:latin typeface="Cambria Math"/>
                              <a:cs typeface="Times New Roman" panose="02020603050405020304" pitchFamily="18" charset="0"/>
                            </a:rPr>
                            <m:t> </m:t>
                          </m:r>
                          <m:d>
                            <m:dPr>
                              <m:begChr m:val="["/>
                              <m:endChr m:val="]"/>
                              <m:ctrlPr>
                                <a:rPr lang="en-US" sz="1800" i="1" dirty="0">
                                  <a:latin typeface="Cambria Math"/>
                                  <a:cs typeface="Times New Roman" panose="02020603050405020304" pitchFamily="18" charset="0"/>
                                </a:rPr>
                              </m:ctrlPr>
                            </m:dPr>
                            <m:e>
                              <m:r>
                                <a:rPr lang="en-US" sz="1800" i="1" dirty="0">
                                  <a:latin typeface="Cambria Math"/>
                                  <a:cs typeface="Times New Roman" panose="02020603050405020304" pitchFamily="18" charset="0"/>
                                </a:rPr>
                                <m:t>𝑆𝐸𝑃</m:t>
                              </m:r>
                            </m:e>
                          </m:d>
                        </m:e>
                      </m:d>
                    </m:oMath>
                  </m:oMathPara>
                </a14:m>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cs typeface="Times New Roman" panose="02020603050405020304" pitchFamily="18" charset="0"/>
                  </a:rPr>
                  <a:t>Step 2: </a:t>
                </a:r>
                <a:r>
                  <a:rPr lang="en-IN" sz="1800" dirty="0">
                    <a:latin typeface="Times New Roman" panose="02020603050405020304" pitchFamily="18" charset="0"/>
                    <a:cs typeface="Times New Roman" panose="02020603050405020304" pitchFamily="18" charset="0"/>
                  </a:rPr>
                  <a:t>Each token </a:t>
                </a:r>
                <a14:m>
                  <m:oMath xmlns:m="http://schemas.openxmlformats.org/officeDocument/2006/math">
                    <m:sSub>
                      <m:sSubPr>
                        <m:ctrlPr>
                          <a:rPr lang="ar-AE" sz="2000" i="1">
                            <a:latin typeface="Cambria Math"/>
                          </a:rPr>
                        </m:ctrlPr>
                      </m:sSubPr>
                      <m:e>
                        <m:r>
                          <a:rPr lang="ar-AE" sz="2000" i="1">
                            <a:latin typeface="Cambria Math" panose="02040503050406030204" pitchFamily="18" charset="0"/>
                          </a:rPr>
                          <m:t>𝑥</m:t>
                        </m:r>
                      </m:e>
                      <m:sub>
                        <m:r>
                          <a:rPr lang="ar-AE" sz="2000" i="1">
                            <a:latin typeface="Cambria Math" panose="02040503050406030204" pitchFamily="18" charset="0"/>
                          </a:rPr>
                          <m:t>𝑖</m:t>
                        </m:r>
                      </m:sub>
                    </m:sSub>
                  </m:oMath>
                </a14:m>
                <a:r>
                  <a:rPr lang="en-IN" sz="1800" dirty="0">
                    <a:latin typeface="Times New Roman" panose="02020603050405020304" pitchFamily="18" charset="0"/>
                    <a:cs typeface="Times New Roman" panose="02020603050405020304" pitchFamily="18" charset="0"/>
                  </a:rPr>
                  <a:t>is mapped to a vector </a:t>
                </a:r>
                <a14:m>
                  <m:oMath xmlns:m="http://schemas.openxmlformats.org/officeDocument/2006/math">
                    <m:sSub>
                      <m:sSubPr>
                        <m:ctrlPr>
                          <a:rPr lang="ar-AE" sz="1800" i="1" smtClean="0">
                            <a:latin typeface="Cambria Math"/>
                          </a:rPr>
                        </m:ctrlPr>
                      </m:sSubPr>
                      <m:e>
                        <m:r>
                          <a:rPr lang="ar-AE" sz="1800" i="1">
                            <a:latin typeface="Cambria Math" panose="02040503050406030204" pitchFamily="18" charset="0"/>
                          </a:rPr>
                          <m:t>𝐸</m:t>
                        </m:r>
                      </m:e>
                      <m:sub>
                        <m:r>
                          <a:rPr lang="ar-AE" sz="1800" i="1">
                            <a:latin typeface="Cambria Math" panose="02040503050406030204" pitchFamily="18" charset="0"/>
                          </a:rPr>
                          <m:t>𝑖</m:t>
                        </m:r>
                      </m:sub>
                    </m:sSub>
                    <m:r>
                      <a:rPr lang="en-IN" sz="1800" b="0" i="1" smtClean="0">
                        <a:latin typeface="Cambria Math" panose="02040503050406030204" pitchFamily="18" charset="0"/>
                      </a:rPr>
                      <m:t> </m:t>
                    </m:r>
                  </m:oMath>
                </a14:m>
                <a:r>
                  <a:rPr lang="en-IN" sz="1800" dirty="0">
                    <a:latin typeface="Times New Roman" panose="02020603050405020304" pitchFamily="18" charset="0"/>
                    <a:cs typeface="Times New Roman" panose="02020603050405020304" pitchFamily="18" charset="0"/>
                  </a:rPr>
                  <a:t>by summing the token and 	position embeddings. Note that in </a:t>
                </a:r>
                <a:r>
                  <a:rPr lang="en-IN" sz="1800" dirty="0" err="1">
                    <a:latin typeface="Times New Roman" panose="02020603050405020304" pitchFamily="18" charset="0"/>
                    <a:cs typeface="Times New Roman" panose="02020603050405020304" pitchFamily="18" charset="0"/>
                  </a:rPr>
                  <a:t>DistilBERT</a:t>
                </a:r>
                <a:r>
                  <a:rPr lang="en-IN" sz="1800" dirty="0">
                    <a:latin typeface="Times New Roman" panose="02020603050405020304" pitchFamily="18" charset="0"/>
                    <a:cs typeface="Times New Roman" panose="02020603050405020304" pitchFamily="18" charset="0"/>
                  </a:rPr>
                  <a:t>, the segment (token-type) 	embeddings are omitted to reduce complexity:</a:t>
                </a:r>
                <a:r>
                  <a:rPr lang="en-US" sz="1800" dirty="0">
                    <a:latin typeface="Times New Roman" panose="02020603050405020304" pitchFamily="18" charset="0"/>
                    <a:cs typeface="Times New Roman" panose="02020603050405020304" pitchFamily="18" charset="0"/>
                  </a:rPr>
                  <a:t>:</a:t>
                </a:r>
              </a:p>
              <a:p>
                <a:pPr marL="0" indent="0" algn="just">
                  <a:buNone/>
                </a:pPr>
                <a:r>
                  <a:rPr lang="en-US" sz="18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1800" i="1" dirty="0">
                            <a:latin typeface="Cambria Math"/>
                            <a:cs typeface="Times New Roman" panose="02020603050405020304" pitchFamily="18" charset="0"/>
                          </a:rPr>
                        </m:ctrlPr>
                      </m:sSubPr>
                      <m:e>
                        <m:r>
                          <a:rPr lang="en-US" sz="1800" i="1" dirty="0">
                            <a:latin typeface="Cambria Math"/>
                            <a:cs typeface="Times New Roman" panose="02020603050405020304" pitchFamily="18" charset="0"/>
                          </a:rPr>
                          <m:t>𝐸</m:t>
                        </m:r>
                      </m:e>
                      <m:sub>
                        <m:r>
                          <a:rPr lang="en-US" sz="1800" i="1" dirty="0">
                            <a:latin typeface="Cambria Math"/>
                            <a:cs typeface="Times New Roman" panose="02020603050405020304" pitchFamily="18" charset="0"/>
                          </a:rPr>
                          <m:t>𝑖</m:t>
                        </m:r>
                      </m:sub>
                    </m:sSub>
                    <m:r>
                      <a:rPr lang="en-US" sz="1800" i="1" dirty="0">
                        <a:latin typeface="Cambria Math"/>
                        <a:cs typeface="Times New Roman" panose="02020603050405020304" pitchFamily="18" charset="0"/>
                      </a:rPr>
                      <m:t>= </m:t>
                    </m:r>
                    <m:sSub>
                      <m:sSubPr>
                        <m:ctrlPr>
                          <a:rPr lang="en-US" sz="1800" i="1" dirty="0">
                            <a:latin typeface="Cambria Math"/>
                            <a:cs typeface="Times New Roman" panose="02020603050405020304" pitchFamily="18" charset="0"/>
                          </a:rPr>
                        </m:ctrlPr>
                      </m:sSubPr>
                      <m:e>
                        <m:r>
                          <a:rPr lang="en-US" sz="1800" i="1" dirty="0">
                            <a:latin typeface="Cambria Math"/>
                            <a:cs typeface="Times New Roman" panose="02020603050405020304" pitchFamily="18" charset="0"/>
                          </a:rPr>
                          <m:t>𝐸</m:t>
                        </m:r>
                      </m:e>
                      <m:sub>
                        <m:r>
                          <a:rPr lang="en-US" sz="1800" i="1" dirty="0">
                            <a:latin typeface="Cambria Math"/>
                            <a:cs typeface="Times New Roman" panose="02020603050405020304" pitchFamily="18" charset="0"/>
                          </a:rPr>
                          <m:t>𝑡𝑜𝑘𝑒𝑛</m:t>
                        </m:r>
                      </m:sub>
                    </m:sSub>
                    <m:sSub>
                      <m:sSubPr>
                        <m:ctrlPr>
                          <a:rPr lang="en-US" sz="1800" i="1" dirty="0">
                            <a:latin typeface="Cambria Math"/>
                            <a:cs typeface="Times New Roman" panose="02020603050405020304" pitchFamily="18" charset="0"/>
                          </a:rPr>
                        </m:ctrlPr>
                      </m:sSubPr>
                      <m:e>
                        <m:r>
                          <a:rPr lang="en-US" sz="1800" i="1" dirty="0">
                            <a:latin typeface="Cambria Math"/>
                            <a:cs typeface="Times New Roman" panose="02020603050405020304" pitchFamily="18" charset="0"/>
                          </a:rPr>
                          <m:t>(</m:t>
                        </m:r>
                        <m:r>
                          <a:rPr lang="en-US" sz="1800" i="1" dirty="0">
                            <a:latin typeface="Cambria Math"/>
                            <a:cs typeface="Times New Roman" panose="02020603050405020304" pitchFamily="18" charset="0"/>
                          </a:rPr>
                          <m:t>𝑥</m:t>
                        </m:r>
                      </m:e>
                      <m:sub>
                        <m:r>
                          <a:rPr lang="en-US" sz="1800" i="1" dirty="0">
                            <a:latin typeface="Cambria Math"/>
                            <a:cs typeface="Times New Roman" panose="02020603050405020304" pitchFamily="18" charset="0"/>
                          </a:rPr>
                          <m:t>𝑖</m:t>
                        </m:r>
                      </m:sub>
                    </m:sSub>
                    <m:r>
                      <a:rPr lang="en-US" sz="1800" i="1" dirty="0">
                        <a:latin typeface="Cambria Math"/>
                        <a:cs typeface="Times New Roman" panose="02020603050405020304" pitchFamily="18" charset="0"/>
                      </a:rPr>
                      <m:t>)+</m:t>
                    </m:r>
                    <m:r>
                      <a:rPr lang="en-US" sz="1800" i="1" dirty="0" smtClean="0">
                        <a:latin typeface="Cambria Math"/>
                        <a:cs typeface="Times New Roman" panose="02020603050405020304" pitchFamily="18" charset="0"/>
                      </a:rPr>
                      <m:t> </m:t>
                    </m:r>
                    <m:sSub>
                      <m:sSubPr>
                        <m:ctrlPr>
                          <a:rPr lang="en-US" sz="1800" i="1" dirty="0">
                            <a:latin typeface="Cambria Math"/>
                            <a:cs typeface="Times New Roman" panose="02020603050405020304" pitchFamily="18" charset="0"/>
                          </a:rPr>
                        </m:ctrlPr>
                      </m:sSubPr>
                      <m:e>
                        <m:r>
                          <a:rPr lang="en-US" sz="1800" i="1" dirty="0">
                            <a:latin typeface="Cambria Math"/>
                            <a:cs typeface="Times New Roman" panose="02020603050405020304" pitchFamily="18" charset="0"/>
                          </a:rPr>
                          <m:t>𝐸</m:t>
                        </m:r>
                      </m:e>
                      <m:sub>
                        <m:r>
                          <a:rPr lang="en-US" sz="1800" i="1" dirty="0">
                            <a:latin typeface="Cambria Math"/>
                            <a:cs typeface="Times New Roman" panose="02020603050405020304" pitchFamily="18" charset="0"/>
                          </a:rPr>
                          <m:t>𝑝𝑜𝑠𝑖𝑡𝑖𝑜𝑛</m:t>
                        </m:r>
                        <m:r>
                          <a:rPr lang="en-US" sz="1800" i="1" dirty="0">
                            <a:latin typeface="Cambria Math"/>
                            <a:cs typeface="Times New Roman" panose="02020603050405020304" pitchFamily="18" charset="0"/>
                          </a:rPr>
                          <m:t>  </m:t>
                        </m:r>
                      </m:sub>
                    </m:sSub>
                    <m:d>
                      <m:dPr>
                        <m:ctrlPr>
                          <a:rPr lang="en-US" sz="1800" i="1" dirty="0" smtClean="0">
                            <a:latin typeface="Cambria Math"/>
                            <a:cs typeface="Times New Roman" panose="02020603050405020304" pitchFamily="18" charset="0"/>
                          </a:rPr>
                        </m:ctrlPr>
                      </m:dPr>
                      <m:e>
                        <m:r>
                          <a:rPr lang="en-US" sz="1800" i="1" dirty="0">
                            <a:latin typeface="Cambria Math"/>
                            <a:cs typeface="Times New Roman" panose="02020603050405020304" pitchFamily="18" charset="0"/>
                          </a:rPr>
                          <m:t>𝑖</m:t>
                        </m:r>
                      </m:e>
                    </m:d>
                  </m:oMath>
                </a14:m>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cs typeface="Times New Roman" panose="02020603050405020304" pitchFamily="18" charset="0"/>
                  </a:rPr>
                  <a:t>Step 3: </a:t>
                </a:r>
                <a:r>
                  <a:rPr lang="en-US" sz="1800" dirty="0">
                    <a:latin typeface="Times New Roman" panose="02020603050405020304" pitchFamily="18" charset="0"/>
                    <a:cs typeface="Times New Roman" panose="02020603050405020304" pitchFamily="18" charset="0"/>
                  </a:rPr>
                  <a:t>The matrix </a:t>
                </a:r>
                <a14:m>
                  <m:oMath xmlns:m="http://schemas.openxmlformats.org/officeDocument/2006/math">
                    <m:r>
                      <a:rPr lang="en-US" sz="2000" i="1">
                        <a:latin typeface="Cambria Math" panose="02040503050406030204" pitchFamily="18" charset="0"/>
                      </a:rPr>
                      <m:t>𝐸</m:t>
                    </m:r>
                    <m:r>
                      <a:rPr lang="en-IN" sz="2000" b="0" i="1" smtClean="0">
                        <a:latin typeface="Cambria Math" panose="02040503050406030204" pitchFamily="18" charset="0"/>
                      </a:rPr>
                      <m:t> </m:t>
                    </m:r>
                  </m:oMath>
                </a14:m>
                <a:r>
                  <a:rPr lang="en-US" sz="1800" dirty="0">
                    <a:latin typeface="Times New Roman" panose="02020603050405020304" pitchFamily="18" charset="0"/>
                    <a:cs typeface="Times New Roman" panose="02020603050405020304" pitchFamily="18" charset="0"/>
                  </a:rPr>
                  <a:t>is fed into a stack of 6 Transformer layers (half of BERT-	Base). Each layer uses the Multi-Head Self-Attention mechanism to 	calculate contextual relationships:	                             	 			   Attention(Q,K,V</a:t>
                </a:r>
                <a:r>
                  <a:rPr lang="en-US" sz="1800" dirty="0" smtClean="0">
                    <a:latin typeface="Times New Roman" panose="02020603050405020304" pitchFamily="18" charset="0"/>
                    <a:cs typeface="Times New Roman" panose="02020603050405020304" pitchFamily="18" charset="0"/>
                  </a:rPr>
                  <a:t>) = </a:t>
                </a:r>
                <a:r>
                  <a:rPr lang="en-US" sz="1800" dirty="0" err="1" smtClean="0">
                    <a:latin typeface="Times New Roman" panose="02020603050405020304" pitchFamily="18" charset="0"/>
                    <a:cs typeface="Times New Roman" panose="02020603050405020304" pitchFamily="18" charset="0"/>
                  </a:rPr>
                  <a:t>Softmax</a:t>
                </a:r>
                <a:r>
                  <a:rPr lang="en-US" sz="1800" dirty="0">
                    <a:latin typeface="Times New Roman" panose="02020603050405020304" pitchFamily="18" charset="0"/>
                    <a:cs typeface="Times New Roman" panose="02020603050405020304" pitchFamily="18" charset="0"/>
                  </a:rPr>
                  <a:t>(</a:t>
                </a:r>
                <a14:m>
                  <m:oMath xmlns:m="http://schemas.openxmlformats.org/officeDocument/2006/math">
                    <m:f>
                      <m:fPr>
                        <m:ctrlPr>
                          <a:rPr lang="en-US" sz="1800" i="1">
                            <a:latin typeface="Cambria Math"/>
                            <a:cs typeface="Times New Roman" panose="02020603050405020304" pitchFamily="18" charset="0"/>
                          </a:rPr>
                        </m:ctrlPr>
                      </m:fPr>
                      <m:num>
                        <m:r>
                          <a:rPr lang="en-US" sz="1800" i="1">
                            <a:latin typeface="Cambria Math"/>
                            <a:cs typeface="Times New Roman" panose="02020603050405020304" pitchFamily="18" charset="0"/>
                          </a:rPr>
                          <m:t>𝑄</m:t>
                        </m:r>
                        <m:sSup>
                          <m:sSupPr>
                            <m:ctrlPr>
                              <a:rPr lang="en-US" sz="1800" i="1">
                                <a:latin typeface="Cambria Math"/>
                                <a:cs typeface="Times New Roman" panose="02020603050405020304" pitchFamily="18" charset="0"/>
                              </a:rPr>
                            </m:ctrlPr>
                          </m:sSupPr>
                          <m:e>
                            <m:r>
                              <a:rPr lang="en-US" sz="1800" i="1">
                                <a:latin typeface="Cambria Math"/>
                                <a:cs typeface="Times New Roman" panose="02020603050405020304" pitchFamily="18" charset="0"/>
                              </a:rPr>
                              <m:t>𝐾</m:t>
                            </m:r>
                          </m:e>
                          <m:sup>
                            <m:r>
                              <a:rPr lang="en-US" sz="1800" i="1">
                                <a:latin typeface="Cambria Math"/>
                                <a:cs typeface="Times New Roman" panose="02020603050405020304" pitchFamily="18" charset="0"/>
                              </a:rPr>
                              <m:t>𝑇</m:t>
                            </m:r>
                          </m:sup>
                        </m:sSup>
                      </m:num>
                      <m:den>
                        <m:rad>
                          <m:radPr>
                            <m:degHide m:val="on"/>
                            <m:ctrlPr>
                              <a:rPr lang="en-US" sz="1800" i="1">
                                <a:latin typeface="Cambria Math"/>
                                <a:cs typeface="Times New Roman" panose="02020603050405020304" pitchFamily="18" charset="0"/>
                              </a:rPr>
                            </m:ctrlPr>
                          </m:radPr>
                          <m:deg/>
                          <m:e>
                            <m:sSub>
                              <m:sSubPr>
                                <m:ctrlPr>
                                  <a:rPr lang="en-US" sz="1800" i="1">
                                    <a:latin typeface="Cambria Math"/>
                                    <a:cs typeface="Times New Roman" panose="02020603050405020304" pitchFamily="18" charset="0"/>
                                  </a:rPr>
                                </m:ctrlPr>
                              </m:sSubPr>
                              <m:e>
                                <m:r>
                                  <a:rPr lang="en-US" sz="1800" i="1">
                                    <a:latin typeface="Cambria Math"/>
                                    <a:cs typeface="Times New Roman" panose="02020603050405020304" pitchFamily="18" charset="0"/>
                                  </a:rPr>
                                  <m:t>𝑑</m:t>
                                </m:r>
                              </m:e>
                              <m:sub>
                                <m:r>
                                  <a:rPr lang="en-US" sz="1800" i="1">
                                    <a:latin typeface="Cambria Math"/>
                                    <a:cs typeface="Times New Roman" panose="02020603050405020304" pitchFamily="18" charset="0"/>
                                  </a:rPr>
                                  <m:t>𝑘</m:t>
                                </m:r>
                              </m:sub>
                            </m:sSub>
                          </m:e>
                        </m:rad>
                      </m:den>
                    </m:f>
                  </m:oMath>
                </a14:m>
                <a:r>
                  <a:rPr lang="en-US" sz="1800" dirty="0">
                    <a:latin typeface="Times New Roman" panose="02020603050405020304" pitchFamily="18" charset="0"/>
                    <a:cs typeface="Times New Roman" panose="02020603050405020304" pitchFamily="18" charset="0"/>
                  </a:rPr>
                  <a:t>)V</a:t>
                </a:r>
              </a:p>
              <a:p>
                <a:pPr marL="0" indent="0">
                  <a:buNone/>
                </a:pPr>
                <a:endParaRPr lang="en-IN" sz="1800"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xmlns:a14="http://schemas.microsoft.com/office/drawing/2010/main" xmlns="" id="{E25AA249-8C5E-AFF2-DF28-357FFCF41B18}"/>
                  </a:ext>
                </a:extLst>
              </p:cNvPr>
              <p:cNvSpPr>
                <a:spLocks noGrp="1" noRot="1" noChangeAspect="1" noMove="1" noResize="1" noEditPoints="1" noAdjustHandles="1" noChangeArrowheads="1" noChangeShapeType="1" noTextEdit="1"/>
              </p:cNvSpPr>
              <p:nvPr>
                <p:ph idx="1"/>
              </p:nvPr>
            </p:nvSpPr>
            <p:spPr>
              <a:xfrm>
                <a:off x="685800" y="1295400"/>
                <a:ext cx="7907400" cy="5257800"/>
              </a:xfrm>
              <a:blipFill rotWithShape="1">
                <a:blip r:embed="rId2"/>
                <a:stretch>
                  <a:fillRect l="-694" t="-580" r="-617"/>
                </a:stretch>
              </a:blipFill>
            </p:spPr>
            <p:txBody>
              <a:bodyPr/>
              <a:lstStyle/>
              <a:p>
                <a:r>
                  <a:rPr lang="en-US">
                    <a:noFill/>
                  </a:rPr>
                  <a:t> </a:t>
                </a:r>
              </a:p>
            </p:txBody>
          </p:sp>
        </mc:Fallback>
      </mc:AlternateContent>
    </p:spTree>
    <p:extLst>
      <p:ext uri="{BB962C8B-B14F-4D97-AF65-F5344CB8AC3E}">
        <p14:creationId xmlns:p14="http://schemas.microsoft.com/office/powerpoint/2010/main" val="1998062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A7E96C1C-C142-D341-185C-A5F6659D204E}"/>
                  </a:ext>
                </a:extLst>
              </p:cNvPr>
              <p:cNvSpPr>
                <a:spLocks noGrp="1"/>
              </p:cNvSpPr>
              <p:nvPr>
                <p:ph idx="1"/>
              </p:nvPr>
            </p:nvSpPr>
            <p:spPr>
              <a:xfrm>
                <a:off x="457200" y="838200"/>
                <a:ext cx="8229600" cy="5287963"/>
              </a:xfrm>
            </p:spPr>
            <p:txBody>
              <a:bodyPr>
                <a:noAutofit/>
              </a:bodyPr>
              <a:lstStyle/>
              <a:p>
                <a:endParaRPr lang="en-US" sz="1800" dirty="0">
                  <a:latin typeface="Times New Roman" panose="02020603050405020304" pitchFamily="18" charset="0"/>
                  <a:cs typeface="Times New Roman" pitchFamily="18" charset="0"/>
                </a:endParaRPr>
              </a:p>
              <a:p>
                <a:r>
                  <a:rPr lang="en-US" sz="1800" b="1" dirty="0">
                    <a:latin typeface="Times New Roman" panose="02020603050405020304" pitchFamily="18" charset="0"/>
                    <a:cs typeface="Times New Roman" panose="02020603050405020304" pitchFamily="18" charset="0"/>
                  </a:rPr>
                  <a:t>Step 4: </a:t>
                </a:r>
                <a:r>
                  <a:rPr lang="en-IN" sz="1800" dirty="0">
                    <a:latin typeface="Times New Roman" panose="02020603050405020304" pitchFamily="18" charset="0"/>
                    <a:cs typeface="Times New Roman" panose="02020603050405020304" pitchFamily="18" charset="0"/>
                  </a:rPr>
                  <a:t>After the final 6th layer </a:t>
                </a:r>
                <a14:m>
                  <m:oMath xmlns:m="http://schemas.openxmlformats.org/officeDocument/2006/math">
                    <m:d>
                      <m:dPr>
                        <m:ctrlPr>
                          <a:rPr lang="ar-AE" sz="1800" i="1">
                            <a:latin typeface="Cambria Math"/>
                          </a:rPr>
                        </m:ctrlPr>
                      </m:dPr>
                      <m:e>
                        <m:sSup>
                          <m:sSupPr>
                            <m:ctrlPr>
                              <a:rPr lang="ar-AE" sz="1800" i="1">
                                <a:latin typeface="Cambria Math"/>
                              </a:rPr>
                            </m:ctrlPr>
                          </m:sSupPr>
                          <m:e>
                            <m:r>
                              <a:rPr lang="ar-AE" sz="1800" i="1">
                                <a:latin typeface="Cambria Math" panose="02040503050406030204" pitchFamily="18" charset="0"/>
                              </a:rPr>
                              <m:t>𝐻</m:t>
                            </m:r>
                          </m:e>
                          <m:sup>
                            <m:d>
                              <m:dPr>
                                <m:ctrlPr>
                                  <a:rPr lang="ar-AE" sz="1800" i="1">
                                    <a:latin typeface="Cambria Math"/>
                                  </a:rPr>
                                </m:ctrlPr>
                              </m:dPr>
                              <m:e>
                                <m:r>
                                  <a:rPr lang="ar-AE" sz="1800">
                                    <a:latin typeface="Cambria Math" panose="02040503050406030204" pitchFamily="18" charset="0"/>
                                  </a:rPr>
                                  <m:t>6</m:t>
                                </m:r>
                              </m:e>
                            </m:d>
                          </m:sup>
                        </m:sSup>
                      </m:e>
                    </m:d>
                  </m:oMath>
                </a14:m>
                <a:r>
                  <a:rPr lang="ar-AE"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the model extracts the contextual 	   representation from the first token </a:t>
                </a:r>
                <a14:m>
                  <m:oMath xmlns:m="http://schemas.openxmlformats.org/officeDocument/2006/math">
                    <m:d>
                      <m:dPr>
                        <m:begChr m:val="["/>
                        <m:endChr m:val="]"/>
                        <m:ctrlPr>
                          <a:rPr lang="ar-AE" sz="1800" i="1">
                            <a:latin typeface="Cambria Math"/>
                          </a:rPr>
                        </m:ctrlPr>
                      </m:dPr>
                      <m:e>
                        <m:r>
                          <a:rPr lang="ar-AE" sz="1800" i="1">
                            <a:latin typeface="Cambria Math" panose="02040503050406030204" pitchFamily="18" charset="0"/>
                          </a:rPr>
                          <m:t>𝐶𝐿𝑆</m:t>
                        </m:r>
                      </m:e>
                    </m:d>
                  </m:oMath>
                </a14:m>
                <a:r>
                  <a:rPr lang="ar-AE"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which summarizes the     	   semantic content of the news article:</a:t>
                </a:r>
                <a:r>
                  <a:rPr lang="en-US" sz="1800" dirty="0">
                    <a:latin typeface="Times New Roman" panose="02020603050405020304" pitchFamily="18" charset="0"/>
                    <a:cs typeface="Times New Roman" panose="02020603050405020304" pitchFamily="18" charset="0"/>
                  </a:rPr>
                  <a:t>            </a:t>
                </a:r>
              </a:p>
              <a:p>
                <a:pPr marL="0" indent="0">
                  <a:buNone/>
                </a:pPr>
                <a:r>
                  <a:rPr lang="en-US" sz="18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1800" i="1">
                            <a:latin typeface="Cambria Math"/>
                            <a:cs typeface="Times New Roman" panose="02020603050405020304" pitchFamily="18" charset="0"/>
                          </a:rPr>
                        </m:ctrlPr>
                      </m:sSubPr>
                      <m:e>
                        <m:r>
                          <m:rPr>
                            <m:sty m:val="p"/>
                          </m:rPr>
                          <a:rPr lang="en-IN" sz="1800" i="1">
                            <a:latin typeface="Cambria Math" panose="02040503050406030204" pitchFamily="18" charset="0"/>
                            <a:cs typeface="Times New Roman" panose="02020603050405020304" pitchFamily="18" charset="0"/>
                          </a:rPr>
                          <m:t>h</m:t>
                        </m:r>
                      </m:e>
                      <m:sub>
                        <m:r>
                          <a:rPr lang="en-IN" sz="1800" i="1">
                            <a:latin typeface="Cambria Math" panose="02040503050406030204" pitchFamily="18" charset="0"/>
                            <a:cs typeface="Times New Roman" panose="02020603050405020304" pitchFamily="18" charset="0"/>
                          </a:rPr>
                          <m:t>[</m:t>
                        </m:r>
                        <m:r>
                          <m:rPr>
                            <m:sty m:val="p"/>
                          </m:rPr>
                          <a:rPr lang="en-IN" sz="1800" i="1">
                            <a:latin typeface="Cambria Math" panose="02040503050406030204" pitchFamily="18" charset="0"/>
                            <a:cs typeface="Times New Roman" panose="02020603050405020304" pitchFamily="18" charset="0"/>
                          </a:rPr>
                          <m:t>CLS</m:t>
                        </m:r>
                        <m:r>
                          <a:rPr lang="en-IN" sz="1800" i="1">
                            <a:latin typeface="Cambria Math" panose="02040503050406030204" pitchFamily="18" charset="0"/>
                            <a:cs typeface="Times New Roman" panose="02020603050405020304" pitchFamily="18" charset="0"/>
                          </a:rPr>
                          <m:t>]</m:t>
                        </m:r>
                      </m:sub>
                    </m:sSub>
                    <m:r>
                      <a:rPr lang="en-IN" sz="1800" i="1">
                        <a:latin typeface="Cambria Math" panose="02040503050406030204" pitchFamily="18" charset="0"/>
                        <a:cs typeface="Times New Roman" panose="02020603050405020304" pitchFamily="18" charset="0"/>
                      </a:rPr>
                      <m:t>=</m:t>
                    </m:r>
                    <m:sSubSup>
                      <m:sSubSupPr>
                        <m:ctrlPr>
                          <a:rPr lang="en-IN" sz="1800" i="1">
                            <a:latin typeface="Cambria Math"/>
                            <a:cs typeface="Times New Roman" panose="02020603050405020304" pitchFamily="18" charset="0"/>
                          </a:rPr>
                        </m:ctrlPr>
                      </m:sSubSupPr>
                      <m:e>
                        <m:r>
                          <m:rPr>
                            <m:sty m:val="p"/>
                          </m:rPr>
                          <a:rPr lang="en-IN" sz="1800" i="1">
                            <a:latin typeface="Cambria Math" panose="02040503050406030204" pitchFamily="18" charset="0"/>
                            <a:cs typeface="Times New Roman" panose="02020603050405020304" pitchFamily="18" charset="0"/>
                          </a:rPr>
                          <m:t>H</m:t>
                        </m:r>
                      </m:e>
                      <m:sub>
                        <m:r>
                          <a:rPr lang="en-IN" sz="1800" i="1">
                            <a:latin typeface="Cambria Math" panose="02040503050406030204" pitchFamily="18" charset="0"/>
                            <a:cs typeface="Times New Roman" panose="02020603050405020304" pitchFamily="18" charset="0"/>
                          </a:rPr>
                          <m:t>0</m:t>
                        </m:r>
                      </m:sub>
                      <m:sup>
                        <m:r>
                          <a:rPr lang="en-IN" sz="1800" i="1">
                            <a:latin typeface="Cambria Math" panose="02040503050406030204" pitchFamily="18" charset="0"/>
                            <a:cs typeface="Times New Roman" panose="02020603050405020304" pitchFamily="18" charset="0"/>
                          </a:rPr>
                          <m:t>(</m:t>
                        </m:r>
                        <m:r>
                          <a:rPr lang="en-IN" sz="1800" b="0" i="1" smtClean="0">
                            <a:latin typeface="Cambria Math" panose="02040503050406030204" pitchFamily="18" charset="0"/>
                            <a:cs typeface="Times New Roman" panose="02020603050405020304" pitchFamily="18" charset="0"/>
                          </a:rPr>
                          <m:t>06</m:t>
                        </m:r>
                        <m:r>
                          <a:rPr lang="en-IN" sz="1800" i="1">
                            <a:latin typeface="Cambria Math" panose="02040503050406030204" pitchFamily="18" charset="0"/>
                            <a:cs typeface="Times New Roman" panose="02020603050405020304" pitchFamily="18" charset="0"/>
                          </a:rPr>
                          <m:t>)</m:t>
                        </m:r>
                      </m:sup>
                    </m:sSubSup>
                  </m:oMath>
                </a14:m>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itchFamily="18" charset="0"/>
                  </a:rPr>
                  <a:t>Step 5:</a:t>
                </a:r>
                <a:r>
                  <a:rPr lang="en-US" sz="1800" dirty="0">
                    <a:latin typeface="Times New Roman" panose="02020603050405020304" pitchFamily="18" charset="0"/>
                    <a:cs typeface="Times New Roman" pitchFamily="18" charset="0"/>
                  </a:rPr>
                  <a:t> </a:t>
                </a:r>
                <a:r>
                  <a:rPr lang="en-IN" sz="1800" dirty="0">
                    <a:latin typeface="Times New Roman" panose="02020603050405020304" pitchFamily="18" charset="0"/>
                    <a:cs typeface="Times New Roman" panose="02020603050405020304" pitchFamily="18" charset="0"/>
                  </a:rPr>
                  <a:t>This hidden state vector </a:t>
                </a:r>
                <a14:m>
                  <m:oMath xmlns:m="http://schemas.openxmlformats.org/officeDocument/2006/math">
                    <m:sSub>
                      <m:sSubPr>
                        <m:ctrlPr>
                          <a:rPr lang="ar-AE" sz="1800" i="1">
                            <a:latin typeface="Cambria Math"/>
                          </a:rPr>
                        </m:ctrlPr>
                      </m:sSubPr>
                      <m:e>
                        <m:r>
                          <a:rPr lang="ar-AE" sz="1800" i="1">
                            <a:latin typeface="Cambria Math" panose="02040503050406030204" pitchFamily="18" charset="0"/>
                          </a:rPr>
                          <m:t>h</m:t>
                        </m:r>
                      </m:e>
                      <m:sub>
                        <m:d>
                          <m:dPr>
                            <m:begChr m:val="["/>
                            <m:endChr m:val="]"/>
                            <m:ctrlPr>
                              <a:rPr lang="ar-AE" sz="1800" i="1">
                                <a:latin typeface="Cambria Math"/>
                              </a:rPr>
                            </m:ctrlPr>
                          </m:dPr>
                          <m:e>
                            <m:r>
                              <a:rPr lang="ar-AE" sz="1800" i="1">
                                <a:latin typeface="Cambria Math" panose="02040503050406030204" pitchFamily="18" charset="0"/>
                              </a:rPr>
                              <m:t>𝐶𝐿𝑆</m:t>
                            </m:r>
                          </m:e>
                        </m:d>
                      </m:sub>
                    </m:sSub>
                  </m:oMath>
                </a14:m>
                <a:r>
                  <a:rPr lang="en-IN" sz="1800" dirty="0">
                    <a:latin typeface="Times New Roman" panose="02020603050405020304" pitchFamily="18" charset="0"/>
                    <a:cs typeface="Times New Roman" panose="02020603050405020304" pitchFamily="18" charset="0"/>
                  </a:rPr>
                  <a:t>is passed through a Linear (Dense) layer with 	   weights </a:t>
                </a:r>
                <a14:m>
                  <m:oMath xmlns:m="http://schemas.openxmlformats.org/officeDocument/2006/math">
                    <m:r>
                      <a:rPr lang="en-IN" sz="1800" i="1">
                        <a:latin typeface="Cambria Math" panose="02040503050406030204" pitchFamily="18" charset="0"/>
                      </a:rPr>
                      <m:t>𝑊</m:t>
                    </m:r>
                  </m:oMath>
                </a14:m>
                <a:r>
                  <a:rPr lang="en-IN" sz="1800" dirty="0">
                    <a:latin typeface="Times New Roman" panose="02020603050405020304" pitchFamily="18" charset="0"/>
                    <a:cs typeface="Times New Roman" panose="02020603050405020304" pitchFamily="18" charset="0"/>
                  </a:rPr>
                  <a:t>and bias </a:t>
                </a:r>
                <a14:m>
                  <m:oMath xmlns:m="http://schemas.openxmlformats.org/officeDocument/2006/math">
                    <m:r>
                      <a:rPr lang="en-IN" sz="1800" i="1">
                        <a:latin typeface="Cambria Math" panose="02040503050406030204" pitchFamily="18" charset="0"/>
                      </a:rPr>
                      <m:t>𝑏</m:t>
                    </m:r>
                  </m:oMath>
                </a14:m>
                <a:r>
                  <a:rPr lang="en-IN" sz="1800" dirty="0">
                    <a:latin typeface="Times New Roman" panose="02020603050405020304" pitchFamily="18" charset="0"/>
                    <a:cs typeface="Times New Roman" panose="02020603050405020304" pitchFamily="18" charset="0"/>
                  </a:rPr>
                  <a:t>. A </a:t>
                </a:r>
                <a:r>
                  <a:rPr lang="en-IN" sz="1800" dirty="0" err="1">
                    <a:latin typeface="Times New Roman" panose="02020603050405020304" pitchFamily="18" charset="0"/>
                    <a:cs typeface="Times New Roman" panose="02020603050405020304" pitchFamily="18" charset="0"/>
                  </a:rPr>
                  <a:t>Softmax</a:t>
                </a:r>
                <a:r>
                  <a:rPr lang="en-IN" sz="1800" dirty="0">
                    <a:latin typeface="Times New Roman" panose="02020603050405020304" pitchFamily="18" charset="0"/>
                    <a:cs typeface="Times New Roman" panose="02020603050405020304" pitchFamily="18" charset="0"/>
                  </a:rPr>
                  <a:t> function is then applied to generate the 	   probability scores </a:t>
                </a:r>
                <a14:m>
                  <m:oMath xmlns:m="http://schemas.openxmlformats.org/officeDocument/2006/math">
                    <m:acc>
                      <m:accPr>
                        <m:chr m:val="̂"/>
                        <m:ctrlPr>
                          <a:rPr lang="ar-AE" sz="1800" i="1">
                            <a:latin typeface="Cambria Math"/>
                          </a:rPr>
                        </m:ctrlPr>
                      </m:accPr>
                      <m:e>
                        <m:r>
                          <a:rPr lang="ar-AE" sz="1800" i="1">
                            <a:latin typeface="Cambria Math" panose="02040503050406030204" pitchFamily="18" charset="0"/>
                          </a:rPr>
                          <m:t>𝑃</m:t>
                        </m:r>
                      </m:e>
                    </m:acc>
                  </m:oMath>
                </a14:m>
                <a:r>
                  <a:rPr lang="ar-AE" sz="1800" dirty="0">
                    <a:latin typeface="Times New Roman" panose="02020603050405020304" pitchFamily="18" charset="0"/>
                    <a:cs typeface="Times New Roman" panose="02020603050405020304" pitchFamily="18" charset="0"/>
                  </a:rPr>
                  <a:t>:</a:t>
                </a:r>
                <a:r>
                  <a:rPr lang="en-US" sz="1800" dirty="0">
                    <a:latin typeface="Times New Roman" pitchFamily="18" charset="0"/>
                    <a:cs typeface="Times New Roman" pitchFamily="18" charset="0"/>
                  </a:rPr>
                  <a:t>                                        </a:t>
                </a:r>
              </a:p>
              <a:p>
                <a:pPr marL="0" indent="0">
                  <a:buNone/>
                </a:pPr>
                <a:r>
                  <a:rPr lang="en-US" sz="1800" dirty="0">
                    <a:latin typeface="Times New Roman" pitchFamily="18" charset="0"/>
                    <a:cs typeface="Times New Roman" pitchFamily="18" charset="0"/>
                  </a:rPr>
                  <a:t>                                                  </a:t>
                </a:r>
                <a14:m>
                  <m:oMath xmlns:m="http://schemas.openxmlformats.org/officeDocument/2006/math">
                    <m:acc>
                      <m:accPr>
                        <m:chr m:val="̂"/>
                        <m:ctrlPr>
                          <a:rPr lang="en-US" sz="1800" i="1">
                            <a:latin typeface="Cambria Math"/>
                            <a:cs typeface="Times New Roman" pitchFamily="18" charset="0"/>
                          </a:rPr>
                        </m:ctrlPr>
                      </m:accPr>
                      <m:e>
                        <m:r>
                          <m:rPr>
                            <m:sty m:val="p"/>
                          </m:rPr>
                          <a:rPr lang="en-IN" sz="1800" i="1">
                            <a:latin typeface="Cambria Math" panose="02040503050406030204" pitchFamily="18" charset="0"/>
                            <a:cs typeface="Times New Roman" pitchFamily="18" charset="0"/>
                          </a:rPr>
                          <m:t>P</m:t>
                        </m:r>
                      </m:e>
                    </m:acc>
                    <m:r>
                      <a:rPr lang="en-IN" sz="1800" i="1">
                        <a:latin typeface="Cambria Math" panose="02040503050406030204" pitchFamily="18" charset="0"/>
                        <a:cs typeface="Times New Roman" pitchFamily="18" charset="0"/>
                      </a:rPr>
                      <m:t>=</m:t>
                    </m:r>
                    <m:r>
                      <m:rPr>
                        <m:sty m:val="p"/>
                      </m:rPr>
                      <a:rPr lang="en-IN" sz="1800" i="1">
                        <a:latin typeface="Cambria Math" panose="02040503050406030204" pitchFamily="18" charset="0"/>
                        <a:cs typeface="Times New Roman" pitchFamily="18" charset="0"/>
                      </a:rPr>
                      <m:t>Softmax</m:t>
                    </m:r>
                    <m:r>
                      <a:rPr lang="en-IN" sz="1800" i="1">
                        <a:latin typeface="Cambria Math" panose="02040503050406030204" pitchFamily="18" charset="0"/>
                        <a:cs typeface="Times New Roman" pitchFamily="18" charset="0"/>
                      </a:rPr>
                      <m:t>(</m:t>
                    </m:r>
                    <m:r>
                      <a:rPr lang="en-IN" sz="1800" i="1">
                        <a:latin typeface="Cambria Math" panose="02040503050406030204" pitchFamily="18" charset="0"/>
                        <a:cs typeface="Times New Roman" pitchFamily="18" charset="0"/>
                      </a:rPr>
                      <m:t>𝑊</m:t>
                    </m:r>
                    <m:r>
                      <a:rPr lang="en-IN" sz="1800" i="1">
                        <a:latin typeface="Cambria Math" panose="02040503050406030204" pitchFamily="18" charset="0"/>
                        <a:cs typeface="Times New Roman" pitchFamily="18" charset="0"/>
                      </a:rPr>
                      <m:t>.</m:t>
                    </m:r>
                    <m:sSub>
                      <m:sSubPr>
                        <m:ctrlPr>
                          <a:rPr lang="en-IN" sz="1800" i="1">
                            <a:latin typeface="Cambria Math"/>
                            <a:cs typeface="Times New Roman" pitchFamily="18" charset="0"/>
                          </a:rPr>
                        </m:ctrlPr>
                      </m:sSubPr>
                      <m:e>
                        <m:r>
                          <a:rPr lang="en-IN" sz="1800" i="1">
                            <a:latin typeface="Cambria Math" panose="02040503050406030204" pitchFamily="18" charset="0"/>
                            <a:cs typeface="Times New Roman" pitchFamily="18" charset="0"/>
                          </a:rPr>
                          <m:t>h</m:t>
                        </m:r>
                      </m:e>
                      <m:sub>
                        <m:r>
                          <a:rPr lang="en-IN" sz="1800" i="1">
                            <a:latin typeface="Cambria Math" panose="02040503050406030204" pitchFamily="18" charset="0"/>
                            <a:cs typeface="Times New Roman" pitchFamily="18" charset="0"/>
                          </a:rPr>
                          <m:t>[</m:t>
                        </m:r>
                        <m:r>
                          <a:rPr lang="en-IN" sz="1800" i="1">
                            <a:latin typeface="Cambria Math" panose="02040503050406030204" pitchFamily="18" charset="0"/>
                            <a:cs typeface="Times New Roman" pitchFamily="18" charset="0"/>
                          </a:rPr>
                          <m:t>𝐶𝐿𝑆</m:t>
                        </m:r>
                        <m:r>
                          <a:rPr lang="en-IN" sz="1800" i="1">
                            <a:latin typeface="Cambria Math" panose="02040503050406030204" pitchFamily="18" charset="0"/>
                            <a:cs typeface="Times New Roman" pitchFamily="18" charset="0"/>
                          </a:rPr>
                          <m:t>]</m:t>
                        </m:r>
                      </m:sub>
                    </m:sSub>
                    <m:r>
                      <a:rPr lang="en-IN" sz="1800" i="1">
                        <a:latin typeface="Cambria Math" panose="02040503050406030204" pitchFamily="18" charset="0"/>
                        <a:cs typeface="Times New Roman" pitchFamily="18" charset="0"/>
                      </a:rPr>
                      <m:t>+</m:t>
                    </m:r>
                    <m:r>
                      <m:rPr>
                        <m:sty m:val="p"/>
                      </m:rPr>
                      <a:rPr lang="en-IN" sz="1800" i="1">
                        <a:latin typeface="Cambria Math" panose="02040503050406030204" pitchFamily="18" charset="0"/>
                        <a:cs typeface="Times New Roman" pitchFamily="18" charset="0"/>
                      </a:rPr>
                      <m:t>b</m:t>
                    </m:r>
                    <m:r>
                      <a:rPr lang="en-IN" sz="1800" i="1">
                        <a:latin typeface="Cambria Math" panose="02040503050406030204" pitchFamily="18" charset="0"/>
                        <a:cs typeface="Times New Roman" pitchFamily="18" charset="0"/>
                      </a:rPr>
                      <m:t>)</m:t>
                    </m:r>
                  </m:oMath>
                </a14:m>
                <a:endParaRPr lang="en-US" sz="1800" dirty="0">
                  <a:latin typeface="Times New Roman" panose="02020603050405020304" pitchFamily="18" charset="0"/>
                  <a:cs typeface="Times New Roman"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A7E96C1C-C142-D341-185C-A5F6659D204E}"/>
                  </a:ext>
                </a:extLst>
              </p:cNvPr>
              <p:cNvSpPr>
                <a:spLocks noGrp="1" noRot="1" noChangeAspect="1" noMove="1" noResize="1" noEditPoints="1" noAdjustHandles="1" noChangeArrowheads="1" noChangeShapeType="1" noTextEdit="1"/>
              </p:cNvSpPr>
              <p:nvPr>
                <p:ph idx="1"/>
              </p:nvPr>
            </p:nvSpPr>
            <p:spPr>
              <a:xfrm>
                <a:off x="457200" y="838200"/>
                <a:ext cx="8229600" cy="5287963"/>
              </a:xfrm>
              <a:blipFill>
                <a:blip r:embed="rId2"/>
                <a:stretch>
                  <a:fillRect l="-444" r="-1037"/>
                </a:stretch>
              </a:blipFill>
            </p:spPr>
            <p:txBody>
              <a:bodyPr/>
              <a:lstStyle/>
              <a:p>
                <a:r>
                  <a:rPr lang="en-IN">
                    <a:noFill/>
                  </a:rPr>
                  <a:t> </a:t>
                </a:r>
              </a:p>
            </p:txBody>
          </p:sp>
        </mc:Fallback>
      </mc:AlternateContent>
    </p:spTree>
    <p:extLst>
      <p:ext uri="{BB962C8B-B14F-4D97-AF65-F5344CB8AC3E}">
        <p14:creationId xmlns:p14="http://schemas.microsoft.com/office/powerpoint/2010/main" val="19861263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879126B-B7FD-D4C2-E69B-D4C9F0F14542}"/>
              </a:ext>
            </a:extLst>
          </p:cNvPr>
          <p:cNvSpPr>
            <a:spLocks noGrp="1"/>
          </p:cNvSpPr>
          <p:nvPr>
            <p:ph type="title"/>
          </p:nvPr>
        </p:nvSpPr>
        <p:spPr>
          <a:xfrm>
            <a:off x="457200" y="76200"/>
            <a:ext cx="8229600" cy="838200"/>
          </a:xfrm>
        </p:spPr>
        <p:txBody>
          <a:bodyPr>
            <a:normAutofit/>
          </a:bodyPr>
          <a:lstStyle/>
          <a:p>
            <a:r>
              <a:rPr lang="en-IN" sz="3200" b="1" dirty="0">
                <a:latin typeface="Times New Roman" panose="02020603050405020304" pitchFamily="18" charset="0"/>
                <a:cs typeface="Times New Roman" panose="02020603050405020304" pitchFamily="18" charset="0"/>
              </a:rPr>
              <a:t>RESULTS</a:t>
            </a:r>
          </a:p>
        </p:txBody>
      </p:sp>
      <p:sp>
        <p:nvSpPr>
          <p:cNvPr id="13" name="TextBox 12">
            <a:extLst>
              <a:ext uri="{FF2B5EF4-FFF2-40B4-BE49-F238E27FC236}">
                <a16:creationId xmlns:a16="http://schemas.microsoft.com/office/drawing/2014/main" xmlns="" id="{8FE47EFF-F18E-D42D-1EE8-5596A447C24F}"/>
              </a:ext>
            </a:extLst>
          </p:cNvPr>
          <p:cNvSpPr txBox="1"/>
          <p:nvPr/>
        </p:nvSpPr>
        <p:spPr>
          <a:xfrm>
            <a:off x="3886200" y="5867400"/>
            <a:ext cx="1344955" cy="461665"/>
          </a:xfrm>
          <a:prstGeom prst="rect">
            <a:avLst/>
          </a:prstGeom>
          <a:noFill/>
        </p:spPr>
        <p:txBody>
          <a:bodyPr wrap="square" rtlCol="0">
            <a:spAutoFit/>
          </a:bodyPr>
          <a:lstStyle/>
          <a:p>
            <a:r>
              <a:rPr lang="en-US" dirty="0"/>
              <a:t>      </a:t>
            </a:r>
            <a:r>
              <a:rPr lang="en-US" sz="2400" dirty="0"/>
              <a:t>BERT</a:t>
            </a:r>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1" y="914400"/>
            <a:ext cx="4495799"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0736" y="1524000"/>
            <a:ext cx="4143375"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487108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xmlns="" id="{FC40B895-2259-188A-9906-F0B5EF286110}"/>
              </a:ext>
            </a:extLst>
          </p:cNvPr>
          <p:cNvSpPr txBox="1"/>
          <p:nvPr/>
        </p:nvSpPr>
        <p:spPr>
          <a:xfrm>
            <a:off x="4038600" y="5867400"/>
            <a:ext cx="1883450" cy="400110"/>
          </a:xfrm>
          <a:prstGeom prst="rect">
            <a:avLst/>
          </a:prstGeom>
          <a:noFill/>
        </p:spPr>
        <p:txBody>
          <a:bodyPr wrap="square" rtlCol="0">
            <a:spAutoFit/>
          </a:bodyPr>
          <a:lstStyle/>
          <a:p>
            <a:r>
              <a:rPr lang="en-US" sz="2000" dirty="0"/>
              <a:t>DISTILBERT</a:t>
            </a:r>
            <a:endParaRPr lang="en-IN" sz="20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764317"/>
            <a:ext cx="4499650" cy="513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161535"/>
            <a:ext cx="4090988"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243046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 ANALYSIS</a:t>
            </a:r>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999434307"/>
              </p:ext>
            </p:extLst>
          </p:nvPr>
        </p:nvGraphicFramePr>
        <p:xfrm>
          <a:off x="457200" y="1600200"/>
          <a:ext cx="8229600" cy="297180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990600">
                <a:tc>
                  <a:txBody>
                    <a:bodyPr/>
                    <a:lstStyle/>
                    <a:p>
                      <a:r>
                        <a:rPr lang="en-US" dirty="0" smtClean="0"/>
                        <a:t>Model</a:t>
                      </a:r>
                      <a:endParaRPr lang="en-US" dirty="0"/>
                    </a:p>
                  </a:txBody>
                  <a:tcPr/>
                </a:tc>
                <a:tc>
                  <a:txBody>
                    <a:bodyPr/>
                    <a:lstStyle/>
                    <a:p>
                      <a:r>
                        <a:rPr lang="en-US" dirty="0" smtClean="0"/>
                        <a:t>Accuracy(%)</a:t>
                      </a:r>
                      <a:endParaRPr lang="en-US" dirty="0"/>
                    </a:p>
                  </a:txBody>
                  <a:tcPr/>
                </a:tc>
                <a:tc>
                  <a:txBody>
                    <a:bodyPr/>
                    <a:lstStyle/>
                    <a:p>
                      <a:r>
                        <a:rPr lang="en-US" dirty="0" smtClean="0"/>
                        <a:t>Precision(%)</a:t>
                      </a:r>
                      <a:endParaRPr lang="en-US" dirty="0"/>
                    </a:p>
                  </a:txBody>
                  <a:tcPr/>
                </a:tc>
                <a:tc>
                  <a:txBody>
                    <a:bodyPr/>
                    <a:lstStyle/>
                    <a:p>
                      <a:r>
                        <a:rPr lang="en-US" dirty="0" smtClean="0"/>
                        <a:t>Recall(%)</a:t>
                      </a:r>
                      <a:endParaRPr lang="en-US" dirty="0"/>
                    </a:p>
                  </a:txBody>
                  <a:tcPr/>
                </a:tc>
                <a:tc>
                  <a:txBody>
                    <a:bodyPr/>
                    <a:lstStyle/>
                    <a:p>
                      <a:r>
                        <a:rPr lang="en-US" dirty="0" smtClean="0"/>
                        <a:t>F1-score(%)</a:t>
                      </a:r>
                      <a:endParaRPr lang="en-US" dirty="0"/>
                    </a:p>
                  </a:txBody>
                  <a:tcPr/>
                </a:tc>
              </a:tr>
              <a:tr h="990600">
                <a:tc>
                  <a:txBody>
                    <a:bodyPr/>
                    <a:lstStyle/>
                    <a:p>
                      <a:r>
                        <a:rPr lang="en-US" dirty="0" smtClean="0"/>
                        <a:t>Bert</a:t>
                      </a:r>
                      <a:endParaRPr lang="en-US" dirty="0"/>
                    </a:p>
                  </a:txBody>
                  <a:tcPr/>
                </a:tc>
                <a:tc>
                  <a:txBody>
                    <a:bodyPr/>
                    <a:lstStyle/>
                    <a:p>
                      <a:r>
                        <a:rPr lang="en-US" dirty="0" smtClean="0"/>
                        <a:t>97.5</a:t>
                      </a:r>
                      <a:endParaRPr lang="en-US" dirty="0"/>
                    </a:p>
                  </a:txBody>
                  <a:tcPr/>
                </a:tc>
                <a:tc>
                  <a:txBody>
                    <a:bodyPr/>
                    <a:lstStyle/>
                    <a:p>
                      <a:r>
                        <a:rPr lang="en-US" dirty="0" smtClean="0"/>
                        <a:t>98.6</a:t>
                      </a:r>
                      <a:endParaRPr lang="en-US" dirty="0"/>
                    </a:p>
                  </a:txBody>
                  <a:tcPr/>
                </a:tc>
                <a:tc>
                  <a:txBody>
                    <a:bodyPr/>
                    <a:lstStyle/>
                    <a:p>
                      <a:r>
                        <a:rPr lang="en-US" dirty="0" smtClean="0"/>
                        <a:t>98.5</a:t>
                      </a:r>
                      <a:endParaRPr lang="en-US" dirty="0"/>
                    </a:p>
                  </a:txBody>
                  <a:tcPr/>
                </a:tc>
                <a:tc>
                  <a:txBody>
                    <a:bodyPr/>
                    <a:lstStyle/>
                    <a:p>
                      <a:r>
                        <a:rPr lang="en-US" dirty="0" smtClean="0"/>
                        <a:t>98.6</a:t>
                      </a:r>
                      <a:endParaRPr lang="en-US" dirty="0"/>
                    </a:p>
                  </a:txBody>
                  <a:tcPr/>
                </a:tc>
              </a:tr>
              <a:tr h="990600">
                <a:tc>
                  <a:txBody>
                    <a:bodyPr/>
                    <a:lstStyle/>
                    <a:p>
                      <a:r>
                        <a:rPr lang="en-US" dirty="0" err="1" smtClean="0"/>
                        <a:t>DistilBert</a:t>
                      </a:r>
                      <a:endParaRPr lang="en-US" dirty="0"/>
                    </a:p>
                  </a:txBody>
                  <a:tcPr/>
                </a:tc>
                <a:tc>
                  <a:txBody>
                    <a:bodyPr/>
                    <a:lstStyle/>
                    <a:p>
                      <a:r>
                        <a:rPr lang="en-US" dirty="0" smtClean="0"/>
                        <a:t>97.2</a:t>
                      </a:r>
                      <a:endParaRPr lang="en-US" dirty="0"/>
                    </a:p>
                  </a:txBody>
                  <a:tcPr/>
                </a:tc>
                <a:tc>
                  <a:txBody>
                    <a:bodyPr/>
                    <a:lstStyle/>
                    <a:p>
                      <a:r>
                        <a:rPr lang="en-US" dirty="0" smtClean="0"/>
                        <a:t>98.4</a:t>
                      </a:r>
                      <a:endParaRPr lang="en-US" dirty="0"/>
                    </a:p>
                  </a:txBody>
                  <a:tcPr/>
                </a:tc>
                <a:tc>
                  <a:txBody>
                    <a:bodyPr/>
                    <a:lstStyle/>
                    <a:p>
                      <a:r>
                        <a:rPr lang="en-US" dirty="0" smtClean="0"/>
                        <a:t>98.2</a:t>
                      </a:r>
                      <a:endParaRPr lang="en-US" dirty="0"/>
                    </a:p>
                  </a:txBody>
                  <a:tcPr/>
                </a:tc>
                <a:tc>
                  <a:txBody>
                    <a:bodyPr/>
                    <a:lstStyle/>
                    <a:p>
                      <a:r>
                        <a:rPr lang="en-US" dirty="0" smtClean="0"/>
                        <a:t>98.1</a:t>
                      </a:r>
                      <a:endParaRPr lang="en-US" dirty="0"/>
                    </a:p>
                  </a:txBody>
                  <a:tcPr/>
                </a:tc>
              </a:tr>
            </a:tbl>
          </a:graphicData>
        </a:graphic>
      </p:graphicFrame>
    </p:spTree>
    <p:extLst>
      <p:ext uri="{BB962C8B-B14F-4D97-AF65-F5344CB8AC3E}">
        <p14:creationId xmlns:p14="http://schemas.microsoft.com/office/powerpoint/2010/main" val="21421590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C9710BA-72A8-D2B7-D824-F60656387B4E}"/>
              </a:ext>
            </a:extLst>
          </p:cNvPr>
          <p:cNvSpPr>
            <a:spLocks noGrp="1"/>
          </p:cNvSpPr>
          <p:nvPr>
            <p:ph type="title"/>
          </p:nvPr>
        </p:nvSpPr>
        <p:spPr/>
        <p:txBody>
          <a:bodyPr>
            <a:normAutofit/>
          </a:bodyPr>
          <a:lstStyle/>
          <a:p>
            <a:r>
              <a:rPr lang="en-US" sz="4800" dirty="0">
                <a:latin typeface="Times New Roman" panose="02020603050405020304" pitchFamily="18" charset="0"/>
                <a:cs typeface="Times New Roman" panose="02020603050405020304" pitchFamily="18" charset="0"/>
              </a:rPr>
              <a:t>CONCLUSION</a:t>
            </a:r>
            <a:endParaRPr lang="en-IN" sz="4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71892D4C-2B56-7898-E3EC-D8FBDEB032E0}"/>
              </a:ext>
            </a:extLst>
          </p:cNvPr>
          <p:cNvSpPr>
            <a:spLocks noGrp="1"/>
          </p:cNvSpPr>
          <p:nvPr>
            <p:ph idx="1"/>
          </p:nvPr>
        </p:nvSpPr>
        <p:spPr>
          <a:xfrm>
            <a:off x="457200" y="1600200"/>
            <a:ext cx="8229600" cy="4038601"/>
          </a:xfrm>
        </p:spPr>
        <p:txBody>
          <a:bodyPr>
            <a:normAutofit/>
          </a:bodyPr>
          <a:lstStyle/>
          <a:p>
            <a:r>
              <a:rPr lang="en-US" sz="2000" dirty="0">
                <a:latin typeface="Times New Roman" panose="02020603050405020304" pitchFamily="18" charset="0"/>
                <a:cs typeface="Times New Roman" panose="02020603050405020304" pitchFamily="18" charset="0"/>
              </a:rPr>
              <a:t>A transformer-based fake news detection system was successfully developed using BERT and </a:t>
            </a:r>
            <a:r>
              <a:rPr lang="en-US" sz="2000" dirty="0" err="1">
                <a:latin typeface="Times New Roman" panose="02020603050405020304" pitchFamily="18" charset="0"/>
                <a:cs typeface="Times New Roman" panose="02020603050405020304" pitchFamily="18" charset="0"/>
              </a:rPr>
              <a:t>DistilBERT</a:t>
            </a:r>
            <a:r>
              <a:rPr lang="en-US" sz="2000" dirty="0">
                <a:latin typeface="Times New Roman" panose="02020603050405020304" pitchFamily="18" charset="0"/>
                <a:cs typeface="Times New Roman" panose="02020603050405020304" pitchFamily="18" charset="0"/>
              </a:rPr>
              <a:t> models</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system effectively classifies news articles as real or fake with high accuracy</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BERT achieved better performance, while </a:t>
            </a:r>
            <a:r>
              <a:rPr lang="en-US" sz="2000" dirty="0" err="1">
                <a:latin typeface="Times New Roman" panose="02020603050405020304" pitchFamily="18" charset="0"/>
                <a:cs typeface="Times New Roman" panose="02020603050405020304" pitchFamily="18" charset="0"/>
              </a:rPr>
              <a:t>DistilBERT</a:t>
            </a:r>
            <a:r>
              <a:rPr lang="en-US" sz="2000" dirty="0">
                <a:latin typeface="Times New Roman" panose="02020603050405020304" pitchFamily="18" charset="0"/>
                <a:cs typeface="Times New Roman" panose="02020603050405020304" pitchFamily="18" charset="0"/>
              </a:rPr>
              <a:t> provided faster and more efficient results.</a:t>
            </a:r>
          </a:p>
          <a:p>
            <a:r>
              <a:rPr lang="en-US" sz="2000" dirty="0">
                <a:latin typeface="Times New Roman" panose="02020603050405020304" pitchFamily="18" charset="0"/>
                <a:cs typeface="Times New Roman" panose="02020603050405020304" pitchFamily="18" charset="0"/>
              </a:rPr>
              <a:t>The study demonstrates the effectiveness of transformer models in handling textual data for fake news detection.</a:t>
            </a:r>
          </a:p>
          <a:p>
            <a:endParaRPr lang="en-IN" dirty="0"/>
          </a:p>
        </p:txBody>
      </p:sp>
    </p:spTree>
    <p:extLst>
      <p:ext uri="{BB962C8B-B14F-4D97-AF65-F5344CB8AC3E}">
        <p14:creationId xmlns:p14="http://schemas.microsoft.com/office/powerpoint/2010/main" val="29949140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2BD0E2-E3F2-3B2A-64FA-6A0DBEB9D11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FUTURE SCOPE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6F9BE771-2775-2BA8-43A7-E434A3C2974B}"/>
              </a:ext>
            </a:extLst>
          </p:cNvPr>
          <p:cNvSpPr>
            <a:spLocks noGrp="1"/>
          </p:cNvSpPr>
          <p:nvPr>
            <p:ph idx="1"/>
          </p:nvPr>
        </p:nvSpPr>
        <p:spPr>
          <a:xfrm>
            <a:off x="457200" y="1600201"/>
            <a:ext cx="8229600" cy="4114800"/>
          </a:xfrm>
        </p:spPr>
        <p:txBody>
          <a:bodyPr>
            <a:normAutofit/>
          </a:bodyPr>
          <a:lstStyle/>
          <a:p>
            <a:pPr>
              <a:lnSpc>
                <a:spcPct val="150000"/>
              </a:lnSpc>
            </a:pPr>
            <a:r>
              <a:rPr lang="en-US" sz="2000" b="1" dirty="0">
                <a:latin typeface="Times New Roman" panose="02020603050405020304" pitchFamily="18" charset="0"/>
                <a:cs typeface="Times New Roman" panose="02020603050405020304" pitchFamily="18" charset="0"/>
              </a:rPr>
              <a:t>Advanced Transformer Models:</a:t>
            </a:r>
            <a:r>
              <a:rPr lang="en-US" sz="2000" dirty="0">
                <a:latin typeface="Times New Roman" panose="02020603050405020304" pitchFamily="18" charset="0"/>
                <a:cs typeface="Times New Roman" panose="02020603050405020304" pitchFamily="18" charset="0"/>
              </a:rPr>
              <a:t> Extend the work by implementing advanced models such as </a:t>
            </a:r>
            <a:r>
              <a:rPr lang="en-US" sz="2000" dirty="0" err="1">
                <a:latin typeface="Times New Roman" panose="02020603050405020304" pitchFamily="18" charset="0"/>
                <a:cs typeface="Times New Roman" panose="02020603050405020304" pitchFamily="18" charset="0"/>
              </a:rPr>
              <a:t>RoBERTa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XLNet</a:t>
            </a:r>
            <a:r>
              <a:rPr lang="en-US" sz="2000" dirty="0">
                <a:latin typeface="Times New Roman" panose="02020603050405020304" pitchFamily="18" charset="0"/>
                <a:cs typeface="Times New Roman" panose="02020603050405020304" pitchFamily="18" charset="0"/>
              </a:rPr>
              <a:t>, or </a:t>
            </a:r>
            <a:r>
              <a:rPr lang="en-US" sz="2000" dirty="0" err="1">
                <a:latin typeface="Times New Roman" panose="02020603050405020304" pitchFamily="18" charset="0"/>
                <a:cs typeface="Times New Roman" panose="02020603050405020304" pitchFamily="18" charset="0"/>
              </a:rPr>
              <a:t>DeBERTa</a:t>
            </a:r>
            <a:r>
              <a:rPr lang="en-US" sz="2000" dirty="0">
                <a:latin typeface="Times New Roman" panose="02020603050405020304" pitchFamily="18" charset="0"/>
                <a:cs typeface="Times New Roman" panose="02020603050405020304" pitchFamily="18" charset="0"/>
              </a:rPr>
              <a:t> to improve classification accuracy and contextual understanding.</a:t>
            </a:r>
          </a:p>
          <a:p>
            <a:pPr>
              <a:lnSpc>
                <a:spcPct val="150000"/>
              </a:lnSpc>
            </a:pPr>
            <a:r>
              <a:rPr lang="en-US" sz="2000" b="1" dirty="0">
                <a:latin typeface="Times New Roman" panose="02020603050405020304" pitchFamily="18" charset="0"/>
                <a:cs typeface="Times New Roman" panose="02020603050405020304" pitchFamily="18" charset="0"/>
              </a:rPr>
              <a:t>Real-time Deployment:</a:t>
            </a:r>
            <a:r>
              <a:rPr lang="en-US" sz="2000" dirty="0">
                <a:latin typeface="Times New Roman" panose="02020603050405020304" pitchFamily="18" charset="0"/>
                <a:cs typeface="Times New Roman" panose="02020603050405020304" pitchFamily="18" charset="0"/>
              </a:rPr>
              <a:t> Develop a web-based or mobile application that can detect and flag fake news articles in real time from social media and news platforms.</a:t>
            </a:r>
          </a:p>
          <a:p>
            <a:pPr marL="0" indent="0">
              <a:lnSpc>
                <a:spcPct val="150000"/>
              </a:lnSpc>
              <a:buNone/>
            </a:pPr>
            <a:endParaRPr lang="en-IN" dirty="0"/>
          </a:p>
        </p:txBody>
      </p:sp>
    </p:spTree>
    <p:extLst>
      <p:ext uri="{BB962C8B-B14F-4D97-AF65-F5344CB8AC3E}">
        <p14:creationId xmlns:p14="http://schemas.microsoft.com/office/powerpoint/2010/main" val="15896851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BDAD3022-2CDA-565D-3774-70A1456ACF1E}"/>
              </a:ext>
            </a:extLst>
          </p:cNvPr>
          <p:cNvSpPr txBox="1">
            <a:spLocks/>
          </p:cNvSpPr>
          <p:nvPr/>
        </p:nvSpPr>
        <p:spPr>
          <a:xfrm>
            <a:off x="457200" y="152400"/>
            <a:ext cx="8229600" cy="9906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dirty="0">
                <a:latin typeface="Times New Roman" panose="02020603050405020304" pitchFamily="18" charset="0"/>
                <a:cs typeface="Times New Roman" panose="02020603050405020304" pitchFamily="18" charset="0"/>
              </a:rPr>
              <a:t>REFERENCES</a:t>
            </a:r>
          </a:p>
        </p:txBody>
      </p:sp>
      <p:sp>
        <p:nvSpPr>
          <p:cNvPr id="4" name="Content Placeholder 2">
            <a:extLst>
              <a:ext uri="{FF2B5EF4-FFF2-40B4-BE49-F238E27FC236}">
                <a16:creationId xmlns:a16="http://schemas.microsoft.com/office/drawing/2014/main" xmlns="" id="{3CB7F7FE-190D-6BFF-2EB8-64E188984AAF}"/>
              </a:ext>
            </a:extLst>
          </p:cNvPr>
          <p:cNvSpPr txBox="1">
            <a:spLocks/>
          </p:cNvSpPr>
          <p:nvPr/>
        </p:nvSpPr>
        <p:spPr>
          <a:xfrm>
            <a:off x="685800" y="914400"/>
            <a:ext cx="8001000" cy="5257800"/>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buNone/>
            </a:pPr>
            <a:r>
              <a:rPr lang="en-US" sz="1800" dirty="0">
                <a:latin typeface="Times New Roman" panose="02020603050405020304" pitchFamily="18" charset="0"/>
                <a:cs typeface="Times New Roman" panose="02020603050405020304" pitchFamily="18" charset="0"/>
              </a:rPr>
              <a:t>[1] </a:t>
            </a:r>
            <a:r>
              <a:rPr lang="en-IN" sz="1600" dirty="0">
                <a:latin typeface="Times New Roman" panose="02020603050405020304" pitchFamily="18" charset="0"/>
                <a:cs typeface="Times New Roman" panose="02020603050405020304" pitchFamily="18" charset="0"/>
              </a:rPr>
              <a:t>Abdullah, M., </a:t>
            </a:r>
            <a:r>
              <a:rPr lang="en-IN" sz="1600" dirty="0" err="1">
                <a:latin typeface="Times New Roman" panose="02020603050405020304" pitchFamily="18" charset="0"/>
                <a:cs typeface="Times New Roman" panose="02020603050405020304" pitchFamily="18" charset="0"/>
              </a:rPr>
              <a:t>Hongying</a:t>
            </a:r>
            <a:r>
              <a:rPr lang="en-IN" sz="1600" dirty="0">
                <a:latin typeface="Times New Roman" panose="02020603050405020304" pitchFamily="18" charset="0"/>
                <a:cs typeface="Times New Roman" panose="02020603050405020304" pitchFamily="18" charset="0"/>
              </a:rPr>
              <a:t>, Z., Javed, A., </a:t>
            </a:r>
            <a:r>
              <a:rPr lang="en-IN" sz="1600" dirty="0" err="1">
                <a:latin typeface="Times New Roman" panose="02020603050405020304" pitchFamily="18" charset="0"/>
                <a:cs typeface="Times New Roman" panose="02020603050405020304" pitchFamily="18" charset="0"/>
              </a:rPr>
              <a:t>Mamyrbayev</a:t>
            </a:r>
            <a:r>
              <a:rPr lang="en-IN" sz="1600" dirty="0">
                <a:latin typeface="Times New Roman" panose="02020603050405020304" pitchFamily="18" charset="0"/>
                <a:cs typeface="Times New Roman" panose="02020603050405020304" pitchFamily="18" charset="0"/>
              </a:rPr>
              <a:t>, O., </a:t>
            </a:r>
            <a:r>
              <a:rPr lang="en-IN" sz="1600" dirty="0" err="1">
                <a:latin typeface="Times New Roman" panose="02020603050405020304" pitchFamily="18" charset="0"/>
                <a:cs typeface="Times New Roman" panose="02020603050405020304" pitchFamily="18" charset="0"/>
              </a:rPr>
              <a:t>Caraffini</a:t>
            </a:r>
            <a:r>
              <a:rPr lang="en-IN" sz="1600" dirty="0">
                <a:latin typeface="Times New Roman" panose="02020603050405020304" pitchFamily="18" charset="0"/>
                <a:cs typeface="Times New Roman" panose="02020603050405020304" pitchFamily="18" charset="0"/>
              </a:rPr>
              <a:t>, F. and </a:t>
            </a:r>
            <a:r>
              <a:rPr lang="en-IN" sz="1600" dirty="0" err="1">
                <a:latin typeface="Times New Roman" panose="02020603050405020304" pitchFamily="18" charset="0"/>
                <a:cs typeface="Times New Roman" panose="02020603050405020304" pitchFamily="18" charset="0"/>
              </a:rPr>
              <a:t>Eshkiki</a:t>
            </a:r>
            <a:r>
              <a:rPr lang="en-IN" sz="1600" dirty="0">
                <a:latin typeface="Times New Roman" panose="02020603050405020304" pitchFamily="18" charset="0"/>
                <a:cs typeface="Times New Roman" panose="02020603050405020304" pitchFamily="18" charset="0"/>
              </a:rPr>
              <a:t>, H., 2025. A joint learning framework for fake news detection. </a:t>
            </a:r>
            <a:r>
              <a:rPr lang="en-IN" sz="1600" i="1" dirty="0">
                <a:latin typeface="Times New Roman" panose="02020603050405020304" pitchFamily="18" charset="0"/>
                <a:cs typeface="Times New Roman" panose="02020603050405020304" pitchFamily="18" charset="0"/>
              </a:rPr>
              <a:t>Displays</a:t>
            </a:r>
            <a:r>
              <a:rPr lang="en-IN" sz="1600" dirty="0">
                <a:latin typeface="Times New Roman" panose="02020603050405020304" pitchFamily="18" charset="0"/>
                <a:cs typeface="Times New Roman" panose="02020603050405020304" pitchFamily="18" charset="0"/>
              </a:rPr>
              <a:t>, p.103154.</a:t>
            </a:r>
            <a:r>
              <a:rPr lang="en-IN" sz="10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marL="0" indent="0">
              <a:lnSpc>
                <a:spcPct val="150000"/>
              </a:lnSpc>
              <a:buNone/>
            </a:pPr>
            <a:r>
              <a:rPr lang="en-US" sz="1600" dirty="0">
                <a:solidFill>
                  <a:srgbClr val="222222"/>
                </a:solidFill>
                <a:latin typeface="Times New Roman" panose="02020603050405020304" pitchFamily="18" charset="0"/>
                <a:cs typeface="Times New Roman" panose="02020603050405020304" pitchFamily="18" charset="0"/>
              </a:rPr>
              <a:t>[2] </a:t>
            </a:r>
            <a:r>
              <a:rPr lang="en-US" sz="1600" dirty="0">
                <a:latin typeface="Times New Roman" panose="02020603050405020304" pitchFamily="18" charset="0"/>
                <a:cs typeface="Times New Roman" panose="02020603050405020304" pitchFamily="18" charset="0"/>
              </a:rPr>
              <a:t>Raza, Shaina, Drai Paulen-Patterson, and Chen Ding. "Fake news detection: comparative evaluation of BERT-like models and large language models with generative AI-annotated data." Knowledge and Information Systems 67.4 (2025): 3267-3292.</a:t>
            </a:r>
          </a:p>
          <a:p>
            <a:pPr marL="0" indent="0">
              <a:lnSpc>
                <a:spcPct val="150000"/>
              </a:lnSpc>
              <a:buNone/>
            </a:pPr>
            <a:r>
              <a:rPr lang="en-US" sz="1600" b="0" dirty="0">
                <a:solidFill>
                  <a:srgbClr val="222222"/>
                </a:solidFill>
                <a:effectLst/>
                <a:latin typeface="Times New Roman" panose="02020603050405020304" pitchFamily="18" charset="0"/>
                <a:cs typeface="Times New Roman" panose="02020603050405020304" pitchFamily="18" charset="0"/>
              </a:rPr>
              <a:t>[3] </a:t>
            </a:r>
            <a:r>
              <a:rPr lang="en-US" sz="1600" dirty="0">
                <a:latin typeface="Times New Roman" panose="02020603050405020304" pitchFamily="18" charset="0"/>
                <a:cs typeface="Times New Roman" panose="02020603050405020304" pitchFamily="18" charset="0"/>
              </a:rPr>
              <a:t>Nair, Vinita, Jyoti Pareek, and Sanskruti Bhatt. "A knowledge-based deep learning approach for automatic fake news detection using BERT on Twitter." Procedia Computer Science 235 (2024): 1870-1882.</a:t>
            </a:r>
          </a:p>
          <a:p>
            <a:pPr marL="0" indent="0">
              <a:lnSpc>
                <a:spcPct val="150000"/>
              </a:lnSpc>
              <a:buNone/>
            </a:pPr>
            <a:r>
              <a:rPr lang="en-US" sz="1600" dirty="0">
                <a:solidFill>
                  <a:srgbClr val="222222"/>
                </a:solidFill>
                <a:latin typeface="Times New Roman" panose="02020603050405020304" pitchFamily="18" charset="0"/>
                <a:cs typeface="Times New Roman" panose="02020603050405020304" pitchFamily="18" charset="0"/>
              </a:rPr>
              <a:t>[4] </a:t>
            </a:r>
            <a:r>
              <a:rPr lang="en-US" sz="1600" dirty="0">
                <a:latin typeface="Times New Roman" panose="02020603050405020304" pitchFamily="18" charset="0"/>
                <a:cs typeface="Times New Roman" panose="02020603050405020304" pitchFamily="18" charset="0"/>
              </a:rPr>
              <a:t>Ramzan, Alishba, et al. "Enhancing fake news detection using </a:t>
            </a:r>
            <a:r>
              <a:rPr lang="en-US" sz="1600" dirty="0" err="1">
                <a:latin typeface="Times New Roman" panose="02020603050405020304" pitchFamily="18" charset="0"/>
                <a:cs typeface="Times New Roman" panose="02020603050405020304" pitchFamily="18" charset="0"/>
              </a:rPr>
              <a:t>bert</a:t>
            </a:r>
            <a:r>
              <a:rPr lang="en-US" sz="1600" dirty="0">
                <a:latin typeface="Times New Roman" panose="02020603050405020304" pitchFamily="18" charset="0"/>
                <a:cs typeface="Times New Roman" panose="02020603050405020304" pitchFamily="18" charset="0"/>
              </a:rPr>
              <a:t>: A comparative analysis of logistic regression, </a:t>
            </a:r>
            <a:r>
              <a:rPr lang="en-US" sz="1600" dirty="0" err="1">
                <a:latin typeface="Times New Roman" panose="02020603050405020304" pitchFamily="18" charset="0"/>
                <a:cs typeface="Times New Roman" panose="02020603050405020304" pitchFamily="18" charset="0"/>
              </a:rPr>
              <a:t>rfc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lstm</a:t>
            </a:r>
            <a:r>
              <a:rPr lang="en-US" sz="1600" dirty="0">
                <a:latin typeface="Times New Roman" panose="02020603050405020304" pitchFamily="18" charset="0"/>
                <a:cs typeface="Times New Roman" panose="02020603050405020304" pitchFamily="18" charset="0"/>
              </a:rPr>
              <a:t> and </a:t>
            </a:r>
            <a:r>
              <a:rPr lang="en-US" sz="1600" dirty="0" err="1">
                <a:latin typeface="Times New Roman" panose="02020603050405020304" pitchFamily="18" charset="0"/>
                <a:cs typeface="Times New Roman" panose="02020603050405020304" pitchFamily="18" charset="0"/>
              </a:rPr>
              <a:t>bert</a:t>
            </a:r>
            <a:r>
              <a:rPr lang="en-US" sz="1600" dirty="0">
                <a:latin typeface="Times New Roman" panose="02020603050405020304" pitchFamily="18" charset="0"/>
                <a:cs typeface="Times New Roman" panose="02020603050405020304" pitchFamily="18" charset="0"/>
              </a:rPr>
              <a:t>." 2024 International Conference on IT and Industrial Technologies (ICIT). IEEE, 2024.</a:t>
            </a:r>
          </a:p>
          <a:p>
            <a:pPr marL="0" indent="0">
              <a:lnSpc>
                <a:spcPct val="150000"/>
              </a:lnSpc>
              <a:buNone/>
            </a:pPr>
            <a:r>
              <a:rPr lang="en-US" sz="1600" b="0" dirty="0">
                <a:solidFill>
                  <a:srgbClr val="222222"/>
                </a:solidFill>
                <a:effectLst/>
                <a:latin typeface="Times New Roman" panose="02020603050405020304" pitchFamily="18" charset="0"/>
                <a:cs typeface="Times New Roman" panose="02020603050405020304" pitchFamily="18" charset="0"/>
              </a:rPr>
              <a:t>[5] </a:t>
            </a:r>
            <a:r>
              <a:rPr lang="en-IN" sz="1600" dirty="0">
                <a:latin typeface="Times New Roman" panose="02020603050405020304" pitchFamily="18" charset="0"/>
                <a:cs typeface="Times New Roman" panose="02020603050405020304" pitchFamily="18" charset="0"/>
              </a:rPr>
              <a:t>Koru, Gülsüm Kayabaşi, and </a:t>
            </a:r>
            <a:r>
              <a:rPr lang="en-IN" sz="1600" dirty="0" err="1">
                <a:latin typeface="Times New Roman" panose="02020603050405020304" pitchFamily="18" charset="0"/>
                <a:cs typeface="Times New Roman" panose="02020603050405020304" pitchFamily="18" charset="0"/>
              </a:rPr>
              <a:t>Çelebı</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Uluyol</a:t>
            </a:r>
            <a:r>
              <a:rPr lang="en-IN" sz="1600" dirty="0">
                <a:latin typeface="Times New Roman" panose="02020603050405020304" pitchFamily="18" charset="0"/>
                <a:cs typeface="Times New Roman" panose="02020603050405020304" pitchFamily="18" charset="0"/>
              </a:rPr>
              <a:t>. "Detection of Turkish fake news from tweets with BERT models." IEEE Access 12 (2024): 14918-14931.</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82639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7A429C1C-7DCB-F900-E1C1-DCB21C2F1635}"/>
              </a:ext>
            </a:extLst>
          </p:cNvPr>
          <p:cNvSpPr txBox="1">
            <a:spLocks/>
          </p:cNvSpPr>
          <p:nvPr/>
        </p:nvSpPr>
        <p:spPr>
          <a:xfrm>
            <a:off x="457200" y="2590800"/>
            <a:ext cx="8229600" cy="2514600"/>
          </a:xfrm>
          <a:prstGeom prst="rect">
            <a:avLst/>
          </a:prstGeom>
        </p:spPr>
        <p:txBody>
          <a:bodyP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54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7493261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3618</TotalTime>
  <Words>1151</Words>
  <Application>Microsoft Office PowerPoint</Application>
  <PresentationFormat>On-screen Show (4:3)</PresentationFormat>
  <Paragraphs>153</Paragraphs>
  <Slides>20</Slides>
  <Notes>1</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Transformer-Based Fake News Detection</vt:lpstr>
      <vt:lpstr>AGENDA</vt:lpstr>
      <vt:lpstr>INTRODUCTION</vt:lpstr>
      <vt:lpstr>PowerPoint Presentation</vt:lpstr>
      <vt:lpstr>PowerPoint Presentation</vt:lpstr>
      <vt:lpstr>PowerPoint Presentation</vt:lpstr>
      <vt:lpstr>PowerPoint Presentation</vt:lpstr>
      <vt:lpstr>DATASETS AND REQUIREMENTS</vt:lpstr>
      <vt:lpstr>ARCHITECTURE DIAGRAM</vt:lpstr>
      <vt:lpstr>ALGORITHMS INVOLVED</vt:lpstr>
      <vt:lpstr>PowerPoint Presentation</vt:lpstr>
      <vt:lpstr>ALGORITHMS INVOLVED</vt:lpstr>
      <vt:lpstr>PowerPoint Presentation</vt:lpstr>
      <vt:lpstr>RESULTS</vt:lpstr>
      <vt:lpstr>PowerPoint Presentation</vt:lpstr>
      <vt:lpstr>RESULT ANALYSIS</vt:lpstr>
      <vt:lpstr>CONCLUSION</vt:lpstr>
      <vt:lpstr>FUTURE SCOPE</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Varalakshmi Maddireddy, Lavanya Ravilla</dc:creator>
  <cp:lastModifiedBy>Varalakshmi Maddireddy</cp:lastModifiedBy>
  <cp:revision>512</cp:revision>
  <dcterms:created xsi:type="dcterms:W3CDTF">2006-08-16T00:00:00Z</dcterms:created>
  <dcterms:modified xsi:type="dcterms:W3CDTF">2026-04-18T17:11:35Z</dcterms:modified>
</cp:coreProperties>
</file>